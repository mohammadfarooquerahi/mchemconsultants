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grandir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nva Sans Bold" panose="020B0604020202020204" charset="0"/>
      <p:regular r:id="rId20"/>
    </p:embeddedFont>
    <p:embeddedFont>
      <p:font typeface="Fredoka" panose="020B0604020202020204" charset="0"/>
      <p:regular r:id="rId21"/>
    </p:embeddedFont>
    <p:embeddedFont>
      <p:font typeface="Poppin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 autoAdjust="0"/>
    <p:restoredTop sz="94622" autoAdjust="0"/>
  </p:normalViewPr>
  <p:slideViewPr>
    <p:cSldViewPr>
      <p:cViewPr>
        <p:scale>
          <a:sx n="41" d="100"/>
          <a:sy n="41" d="100"/>
        </p:scale>
        <p:origin x="772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08173-8E50-4836-8AD4-A6345C90A05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35875-6748-4B13-938F-D0915FCD3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74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5875-6748-4B13-938F-D0915FCD3A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76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8.png"/><Relationship Id="rId3" Type="http://schemas.openxmlformats.org/officeDocument/2006/relationships/image" Target="../media/image2.svg"/><Relationship Id="rId21" Type="http://schemas.openxmlformats.org/officeDocument/2006/relationships/image" Target="../media/image17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3.pn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21" Type="http://schemas.openxmlformats.org/officeDocument/2006/relationships/image" Target="../media/image20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8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8.png"/><Relationship Id="rId3" Type="http://schemas.openxmlformats.org/officeDocument/2006/relationships/image" Target="../media/image2.svg"/><Relationship Id="rId21" Type="http://schemas.openxmlformats.org/officeDocument/2006/relationships/image" Target="../media/image17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8.png"/><Relationship Id="rId3" Type="http://schemas.openxmlformats.org/officeDocument/2006/relationships/image" Target="../media/image2.svg"/><Relationship Id="rId21" Type="http://schemas.openxmlformats.org/officeDocument/2006/relationships/image" Target="../media/image17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8.png"/><Relationship Id="rId3" Type="http://schemas.openxmlformats.org/officeDocument/2006/relationships/image" Target="../media/image2.svg"/><Relationship Id="rId21" Type="http://schemas.openxmlformats.org/officeDocument/2006/relationships/image" Target="../media/image17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8.png"/><Relationship Id="rId3" Type="http://schemas.openxmlformats.org/officeDocument/2006/relationships/image" Target="../media/image2.svg"/><Relationship Id="rId21" Type="http://schemas.openxmlformats.org/officeDocument/2006/relationships/image" Target="../media/image17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8.png"/><Relationship Id="rId3" Type="http://schemas.openxmlformats.org/officeDocument/2006/relationships/image" Target="../media/image2.svg"/><Relationship Id="rId21" Type="http://schemas.openxmlformats.org/officeDocument/2006/relationships/image" Target="../media/image17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8.png"/><Relationship Id="rId3" Type="http://schemas.openxmlformats.org/officeDocument/2006/relationships/image" Target="../media/image2.svg"/><Relationship Id="rId21" Type="http://schemas.openxmlformats.org/officeDocument/2006/relationships/image" Target="../media/image17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8.png"/><Relationship Id="rId3" Type="http://schemas.openxmlformats.org/officeDocument/2006/relationships/image" Target="../media/image2.svg"/><Relationship Id="rId21" Type="http://schemas.openxmlformats.org/officeDocument/2006/relationships/image" Target="../media/image17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6.jpe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5.pn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8.png"/><Relationship Id="rId3" Type="http://schemas.openxmlformats.org/officeDocument/2006/relationships/image" Target="../media/image2.svg"/><Relationship Id="rId21" Type="http://schemas.openxmlformats.org/officeDocument/2006/relationships/image" Target="../media/image17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8.png"/><Relationship Id="rId3" Type="http://schemas.openxmlformats.org/officeDocument/2006/relationships/image" Target="../media/image2.svg"/><Relationship Id="rId21" Type="http://schemas.openxmlformats.org/officeDocument/2006/relationships/image" Target="../media/image17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92523" y="2494297"/>
            <a:ext cx="9721553" cy="3269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99"/>
              </a:lnSpc>
            </a:pPr>
            <a:r>
              <a:rPr lang="en-US" sz="9499" dirty="0" err="1">
                <a:solidFill>
                  <a:srgbClr val="0145AB"/>
                </a:solidFill>
                <a:latin typeface="Fredoka"/>
                <a:ea typeface="Fredoka"/>
                <a:cs typeface="Fredoka"/>
                <a:sym typeface="Fredoka"/>
              </a:rPr>
              <a:t>MChem</a:t>
            </a:r>
            <a:r>
              <a:rPr lang="en-US" sz="9499" dirty="0">
                <a:solidFill>
                  <a:srgbClr val="0145AB"/>
                </a:solidFill>
                <a:latin typeface="Fredoka"/>
                <a:ea typeface="Fredoka"/>
                <a:cs typeface="Fredoka"/>
                <a:sym typeface="Fredoka"/>
              </a:rPr>
              <a:t> Consultants</a:t>
            </a:r>
            <a:endParaRPr lang="en-US" sz="9499" dirty="0">
              <a:solidFill>
                <a:srgbClr val="A3E30B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3819442" y="-741566"/>
            <a:ext cx="5746231" cy="5746231"/>
          </a:xfrm>
          <a:custGeom>
            <a:avLst/>
            <a:gdLst/>
            <a:ahLst/>
            <a:cxnLst/>
            <a:rect l="l" t="t" r="r" b="b"/>
            <a:pathLst>
              <a:path w="5746231" h="5746231">
                <a:moveTo>
                  <a:pt x="0" y="0"/>
                </a:moveTo>
                <a:lnTo>
                  <a:pt x="5746231" y="0"/>
                </a:lnTo>
                <a:lnTo>
                  <a:pt x="5746231" y="5746231"/>
                </a:lnTo>
                <a:lnTo>
                  <a:pt x="0" y="5746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9019445">
            <a:off x="12619528" y="4589514"/>
            <a:ext cx="11701170" cy="5675068"/>
          </a:xfrm>
          <a:custGeom>
            <a:avLst/>
            <a:gdLst/>
            <a:ahLst/>
            <a:cxnLst/>
            <a:rect l="l" t="t" r="r" b="b"/>
            <a:pathLst>
              <a:path w="11701170" h="5675068">
                <a:moveTo>
                  <a:pt x="0" y="0"/>
                </a:moveTo>
                <a:lnTo>
                  <a:pt x="11701170" y="0"/>
                </a:lnTo>
                <a:lnTo>
                  <a:pt x="11701170" y="5675068"/>
                </a:lnTo>
                <a:lnTo>
                  <a:pt x="0" y="5675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2090443" y="3066903"/>
            <a:ext cx="7220097" cy="7220097"/>
          </a:xfrm>
          <a:custGeom>
            <a:avLst/>
            <a:gdLst/>
            <a:ahLst/>
            <a:cxnLst/>
            <a:rect l="l" t="t" r="r" b="b"/>
            <a:pathLst>
              <a:path w="7220097" h="7220097">
                <a:moveTo>
                  <a:pt x="0" y="0"/>
                </a:moveTo>
                <a:lnTo>
                  <a:pt x="7220096" y="0"/>
                </a:lnTo>
                <a:lnTo>
                  <a:pt x="7220096" y="7220097"/>
                </a:lnTo>
                <a:lnTo>
                  <a:pt x="0" y="722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260232" y="-741566"/>
            <a:ext cx="3869422" cy="4851940"/>
          </a:xfrm>
          <a:custGeom>
            <a:avLst/>
            <a:gdLst/>
            <a:ahLst/>
            <a:cxnLst/>
            <a:rect l="l" t="t" r="r" b="b"/>
            <a:pathLst>
              <a:path w="3869422" h="4851940">
                <a:moveTo>
                  <a:pt x="3869422" y="0"/>
                </a:moveTo>
                <a:lnTo>
                  <a:pt x="0" y="0"/>
                </a:lnTo>
                <a:lnTo>
                  <a:pt x="0" y="4851940"/>
                </a:lnTo>
                <a:lnTo>
                  <a:pt x="3869422" y="4851940"/>
                </a:lnTo>
                <a:lnTo>
                  <a:pt x="38694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>
            <a:off x="-1966554" y="2832771"/>
            <a:ext cx="7403666" cy="9283594"/>
          </a:xfrm>
          <a:custGeom>
            <a:avLst/>
            <a:gdLst/>
            <a:ahLst/>
            <a:cxnLst/>
            <a:rect l="l" t="t" r="r" b="b"/>
            <a:pathLst>
              <a:path w="7403666" h="9283594">
                <a:moveTo>
                  <a:pt x="7403666" y="0"/>
                </a:moveTo>
                <a:lnTo>
                  <a:pt x="0" y="0"/>
                </a:lnTo>
                <a:lnTo>
                  <a:pt x="0" y="9283594"/>
                </a:lnTo>
                <a:lnTo>
                  <a:pt x="7403666" y="9283594"/>
                </a:lnTo>
                <a:lnTo>
                  <a:pt x="74036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1326157" y="9258300"/>
            <a:ext cx="18471427" cy="4710951"/>
          </a:xfrm>
          <a:custGeom>
            <a:avLst/>
            <a:gdLst/>
            <a:ahLst/>
            <a:cxnLst/>
            <a:rect l="l" t="t" r="r" b="b"/>
            <a:pathLst>
              <a:path w="18471427" h="4710951">
                <a:moveTo>
                  <a:pt x="0" y="0"/>
                </a:moveTo>
                <a:lnTo>
                  <a:pt x="18471427" y="0"/>
                </a:lnTo>
                <a:lnTo>
                  <a:pt x="18471427" y="4710951"/>
                </a:lnTo>
                <a:lnTo>
                  <a:pt x="0" y="4710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583" t="-447080" r="-20695" b="-10791"/>
            </a:stretch>
          </a:blipFill>
        </p:spPr>
      </p:sp>
      <p:sp>
        <p:nvSpPr>
          <p:cNvPr id="9" name="Freeform 9"/>
          <p:cNvSpPr/>
          <p:nvPr/>
        </p:nvSpPr>
        <p:spPr>
          <a:xfrm rot="-2203497">
            <a:off x="11813050" y="-1075251"/>
            <a:ext cx="12949900" cy="6280702"/>
          </a:xfrm>
          <a:custGeom>
            <a:avLst/>
            <a:gdLst/>
            <a:ahLst/>
            <a:cxnLst/>
            <a:rect l="l" t="t" r="r" b="b"/>
            <a:pathLst>
              <a:path w="12949900" h="6280702">
                <a:moveTo>
                  <a:pt x="0" y="0"/>
                </a:moveTo>
                <a:lnTo>
                  <a:pt x="12949900" y="0"/>
                </a:lnTo>
                <a:lnTo>
                  <a:pt x="12949900" y="6280702"/>
                </a:lnTo>
                <a:lnTo>
                  <a:pt x="0" y="62807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9019445">
            <a:off x="15009518" y="7682320"/>
            <a:ext cx="5056399" cy="2452353"/>
          </a:xfrm>
          <a:custGeom>
            <a:avLst/>
            <a:gdLst/>
            <a:ahLst/>
            <a:cxnLst/>
            <a:rect l="l" t="t" r="r" b="b"/>
            <a:pathLst>
              <a:path w="5056399" h="2452353">
                <a:moveTo>
                  <a:pt x="0" y="0"/>
                </a:moveTo>
                <a:lnTo>
                  <a:pt x="5056398" y="0"/>
                </a:lnTo>
                <a:lnTo>
                  <a:pt x="5056398" y="2452353"/>
                </a:lnTo>
                <a:lnTo>
                  <a:pt x="0" y="245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129653" y="5589395"/>
            <a:ext cx="307459" cy="307459"/>
          </a:xfrm>
          <a:custGeom>
            <a:avLst/>
            <a:gdLst/>
            <a:ahLst/>
            <a:cxnLst/>
            <a:rect l="l" t="t" r="r" b="b"/>
            <a:pathLst>
              <a:path w="307459" h="307459">
                <a:moveTo>
                  <a:pt x="0" y="0"/>
                </a:moveTo>
                <a:lnTo>
                  <a:pt x="307459" y="0"/>
                </a:lnTo>
                <a:lnTo>
                  <a:pt x="307459" y="307458"/>
                </a:lnTo>
                <a:lnTo>
                  <a:pt x="0" y="3074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265854" flipH="1">
            <a:off x="-850425" y="6709559"/>
            <a:ext cx="3184995" cy="3293241"/>
          </a:xfrm>
          <a:custGeom>
            <a:avLst/>
            <a:gdLst/>
            <a:ahLst/>
            <a:cxnLst/>
            <a:rect l="l" t="t" r="r" b="b"/>
            <a:pathLst>
              <a:path w="4444581" h="4647928">
                <a:moveTo>
                  <a:pt x="4444581" y="0"/>
                </a:moveTo>
                <a:lnTo>
                  <a:pt x="0" y="0"/>
                </a:lnTo>
                <a:lnTo>
                  <a:pt x="0" y="4647928"/>
                </a:lnTo>
                <a:lnTo>
                  <a:pt x="4444581" y="4647928"/>
                </a:lnTo>
                <a:lnTo>
                  <a:pt x="444458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202547">
            <a:off x="16961549" y="4114006"/>
            <a:ext cx="1608275" cy="1681856"/>
          </a:xfrm>
          <a:custGeom>
            <a:avLst/>
            <a:gdLst/>
            <a:ahLst/>
            <a:cxnLst/>
            <a:rect l="l" t="t" r="r" b="b"/>
            <a:pathLst>
              <a:path w="1608275" h="1681856">
                <a:moveTo>
                  <a:pt x="0" y="0"/>
                </a:moveTo>
                <a:lnTo>
                  <a:pt x="1608275" y="0"/>
                </a:lnTo>
                <a:lnTo>
                  <a:pt x="1608275" y="1681856"/>
                </a:lnTo>
                <a:lnTo>
                  <a:pt x="0" y="1681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9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628163" y="6013355"/>
            <a:ext cx="9991977" cy="9842098"/>
          </a:xfrm>
          <a:custGeom>
            <a:avLst/>
            <a:gdLst/>
            <a:ahLst/>
            <a:cxnLst/>
            <a:rect l="l" t="t" r="r" b="b"/>
            <a:pathLst>
              <a:path w="9991977" h="9842098">
                <a:moveTo>
                  <a:pt x="0" y="0"/>
                </a:moveTo>
                <a:lnTo>
                  <a:pt x="9991977" y="0"/>
                </a:lnTo>
                <a:lnTo>
                  <a:pt x="9991977" y="9842098"/>
                </a:lnTo>
                <a:lnTo>
                  <a:pt x="0" y="98420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5497905" y="8846987"/>
            <a:ext cx="2790095" cy="1273923"/>
            <a:chOff x="0" y="0"/>
            <a:chExt cx="3720127" cy="1698564"/>
          </a:xfrm>
        </p:grpSpPr>
        <p:sp>
          <p:nvSpPr>
            <p:cNvPr id="16" name="Freeform 16"/>
            <p:cNvSpPr/>
            <p:nvPr/>
          </p:nvSpPr>
          <p:spPr>
            <a:xfrm>
              <a:off x="585344" y="0"/>
              <a:ext cx="2549440" cy="1698564"/>
            </a:xfrm>
            <a:custGeom>
              <a:avLst/>
              <a:gdLst/>
              <a:ahLst/>
              <a:cxnLst/>
              <a:rect l="l" t="t" r="r" b="b"/>
              <a:pathLst>
                <a:path w="2549440" h="1698564">
                  <a:moveTo>
                    <a:pt x="0" y="0"/>
                  </a:moveTo>
                  <a:lnTo>
                    <a:pt x="2549439" y="0"/>
                  </a:lnTo>
                  <a:lnTo>
                    <a:pt x="2549439" y="1698564"/>
                  </a:lnTo>
                  <a:lnTo>
                    <a:pt x="0" y="1698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1043636"/>
              <a:ext cx="3720127" cy="521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en-US" sz="242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@bic.muet 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50175" y="9692428"/>
            <a:ext cx="438905" cy="49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</a:pPr>
            <a:r>
              <a:rPr lang="en-US" sz="286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</a:t>
            </a:r>
          </a:p>
        </p:txBody>
      </p:sp>
      <p:sp>
        <p:nvSpPr>
          <p:cNvPr id="19" name="Freeform 19"/>
          <p:cNvSpPr/>
          <p:nvPr/>
        </p:nvSpPr>
        <p:spPr>
          <a:xfrm>
            <a:off x="7339943" y="9081342"/>
            <a:ext cx="2739274" cy="1039568"/>
          </a:xfrm>
          <a:custGeom>
            <a:avLst/>
            <a:gdLst/>
            <a:ahLst/>
            <a:cxnLst/>
            <a:rect l="l" t="t" r="r" b="b"/>
            <a:pathLst>
              <a:path w="2739274" h="1039568">
                <a:moveTo>
                  <a:pt x="0" y="0"/>
                </a:moveTo>
                <a:lnTo>
                  <a:pt x="2739274" y="0"/>
                </a:lnTo>
                <a:lnTo>
                  <a:pt x="2739274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62910" r="-61427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237677" y="9258300"/>
            <a:ext cx="4375851" cy="848163"/>
          </a:xfrm>
          <a:custGeom>
            <a:avLst/>
            <a:gdLst/>
            <a:ahLst/>
            <a:cxnLst/>
            <a:rect l="l" t="t" r="r" b="b"/>
            <a:pathLst>
              <a:path w="4375851" h="848163">
                <a:moveTo>
                  <a:pt x="0" y="0"/>
                </a:moveTo>
                <a:lnTo>
                  <a:pt x="4375850" y="0"/>
                </a:lnTo>
                <a:lnTo>
                  <a:pt x="4375850" y="848163"/>
                </a:lnTo>
                <a:lnTo>
                  <a:pt x="0" y="84816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8590" r="-5987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734045" y="9109917"/>
            <a:ext cx="861179" cy="1039568"/>
          </a:xfrm>
          <a:custGeom>
            <a:avLst/>
            <a:gdLst/>
            <a:ahLst/>
            <a:cxnLst/>
            <a:rect l="l" t="t" r="r" b="b"/>
            <a:pathLst>
              <a:path w="861179" h="1039568">
                <a:moveTo>
                  <a:pt x="0" y="0"/>
                </a:moveTo>
                <a:lnTo>
                  <a:pt x="861179" y="0"/>
                </a:lnTo>
                <a:lnTo>
                  <a:pt x="861179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r="-4334"/>
            </a:stretch>
          </a:blipFill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722624-802F-43A4-8939-8FE61548EA6E}"/>
              </a:ext>
            </a:extLst>
          </p:cNvPr>
          <p:cNvSpPr txBox="1"/>
          <p:nvPr/>
        </p:nvSpPr>
        <p:spPr>
          <a:xfrm>
            <a:off x="4694996" y="5983763"/>
            <a:ext cx="10900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/>
              <a:t>Engineering Sustainable Solutions for a Better Tomorrow.</a:t>
            </a:r>
            <a:endParaRPr lang="en-US" sz="36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6F50DF0-A913-486E-BFB0-6294115F4BED}"/>
              </a:ext>
            </a:extLst>
          </p:cNvPr>
          <p:cNvSpPr/>
          <p:nvPr/>
        </p:nvSpPr>
        <p:spPr>
          <a:xfrm>
            <a:off x="850175" y="419100"/>
            <a:ext cx="3493225" cy="3124200"/>
          </a:xfrm>
          <a:prstGeom prst="ellipse">
            <a:avLst/>
          </a:prstGeom>
          <a:blipFill dpi="0" rotWithShape="1"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19442" y="-741566"/>
            <a:ext cx="5746231" cy="5746231"/>
          </a:xfrm>
          <a:custGeom>
            <a:avLst/>
            <a:gdLst/>
            <a:ahLst/>
            <a:cxnLst/>
            <a:rect l="l" t="t" r="r" b="b"/>
            <a:pathLst>
              <a:path w="5746231" h="5746231">
                <a:moveTo>
                  <a:pt x="0" y="0"/>
                </a:moveTo>
                <a:lnTo>
                  <a:pt x="5746231" y="0"/>
                </a:lnTo>
                <a:lnTo>
                  <a:pt x="5746231" y="5746231"/>
                </a:lnTo>
                <a:lnTo>
                  <a:pt x="0" y="5746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019445">
            <a:off x="12619528" y="4589514"/>
            <a:ext cx="11701170" cy="5675068"/>
          </a:xfrm>
          <a:custGeom>
            <a:avLst/>
            <a:gdLst/>
            <a:ahLst/>
            <a:cxnLst/>
            <a:rect l="l" t="t" r="r" b="b"/>
            <a:pathLst>
              <a:path w="11701170" h="5675068">
                <a:moveTo>
                  <a:pt x="0" y="0"/>
                </a:moveTo>
                <a:lnTo>
                  <a:pt x="11701170" y="0"/>
                </a:lnTo>
                <a:lnTo>
                  <a:pt x="11701170" y="5675068"/>
                </a:lnTo>
                <a:lnTo>
                  <a:pt x="0" y="5675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2090443" y="3066903"/>
            <a:ext cx="7220097" cy="7220097"/>
          </a:xfrm>
          <a:custGeom>
            <a:avLst/>
            <a:gdLst/>
            <a:ahLst/>
            <a:cxnLst/>
            <a:rect l="l" t="t" r="r" b="b"/>
            <a:pathLst>
              <a:path w="7220097" h="7220097">
                <a:moveTo>
                  <a:pt x="0" y="0"/>
                </a:moveTo>
                <a:lnTo>
                  <a:pt x="7220096" y="0"/>
                </a:lnTo>
                <a:lnTo>
                  <a:pt x="7220096" y="7220097"/>
                </a:lnTo>
                <a:lnTo>
                  <a:pt x="0" y="722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260232" y="-741566"/>
            <a:ext cx="3869422" cy="4851940"/>
          </a:xfrm>
          <a:custGeom>
            <a:avLst/>
            <a:gdLst/>
            <a:ahLst/>
            <a:cxnLst/>
            <a:rect l="l" t="t" r="r" b="b"/>
            <a:pathLst>
              <a:path w="3869422" h="4851940">
                <a:moveTo>
                  <a:pt x="3869422" y="0"/>
                </a:moveTo>
                <a:lnTo>
                  <a:pt x="0" y="0"/>
                </a:lnTo>
                <a:lnTo>
                  <a:pt x="0" y="4851940"/>
                </a:lnTo>
                <a:lnTo>
                  <a:pt x="3869422" y="4851940"/>
                </a:lnTo>
                <a:lnTo>
                  <a:pt x="38694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-1966554" y="2832771"/>
            <a:ext cx="7403666" cy="9283594"/>
          </a:xfrm>
          <a:custGeom>
            <a:avLst/>
            <a:gdLst/>
            <a:ahLst/>
            <a:cxnLst/>
            <a:rect l="l" t="t" r="r" b="b"/>
            <a:pathLst>
              <a:path w="7403666" h="9283594">
                <a:moveTo>
                  <a:pt x="7403666" y="0"/>
                </a:moveTo>
                <a:lnTo>
                  <a:pt x="0" y="0"/>
                </a:lnTo>
                <a:lnTo>
                  <a:pt x="0" y="9283594"/>
                </a:lnTo>
                <a:lnTo>
                  <a:pt x="7403666" y="9283594"/>
                </a:lnTo>
                <a:lnTo>
                  <a:pt x="74036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326157" y="9258300"/>
            <a:ext cx="18471427" cy="4710951"/>
          </a:xfrm>
          <a:custGeom>
            <a:avLst/>
            <a:gdLst/>
            <a:ahLst/>
            <a:cxnLst/>
            <a:rect l="l" t="t" r="r" b="b"/>
            <a:pathLst>
              <a:path w="18471427" h="4710951">
                <a:moveTo>
                  <a:pt x="0" y="0"/>
                </a:moveTo>
                <a:lnTo>
                  <a:pt x="18471427" y="0"/>
                </a:lnTo>
                <a:lnTo>
                  <a:pt x="18471427" y="4710951"/>
                </a:lnTo>
                <a:lnTo>
                  <a:pt x="0" y="4710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583" t="-447080" r="-20695" b="-10791"/>
            </a:stretch>
          </a:blipFill>
        </p:spPr>
      </p:sp>
      <p:sp>
        <p:nvSpPr>
          <p:cNvPr id="8" name="Freeform 8"/>
          <p:cNvSpPr/>
          <p:nvPr/>
        </p:nvSpPr>
        <p:spPr>
          <a:xfrm rot="-2203497">
            <a:off x="11813050" y="-1075251"/>
            <a:ext cx="12949900" cy="6280702"/>
          </a:xfrm>
          <a:custGeom>
            <a:avLst/>
            <a:gdLst/>
            <a:ahLst/>
            <a:cxnLst/>
            <a:rect l="l" t="t" r="r" b="b"/>
            <a:pathLst>
              <a:path w="12949900" h="6280702">
                <a:moveTo>
                  <a:pt x="0" y="0"/>
                </a:moveTo>
                <a:lnTo>
                  <a:pt x="12949900" y="0"/>
                </a:lnTo>
                <a:lnTo>
                  <a:pt x="12949900" y="6280702"/>
                </a:lnTo>
                <a:lnTo>
                  <a:pt x="0" y="62807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42911" y="1905180"/>
            <a:ext cx="13245108" cy="111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dirty="0" err="1">
                <a:solidFill>
                  <a:srgbClr val="0145AB"/>
                </a:solidFill>
                <a:latin typeface="Fredoka"/>
                <a:ea typeface="Fredoka"/>
                <a:cs typeface="Fredoka"/>
                <a:sym typeface="Fredoka"/>
              </a:rPr>
              <a:t>MChem</a:t>
            </a:r>
            <a:r>
              <a:rPr lang="en-US" sz="6800" dirty="0">
                <a:solidFill>
                  <a:srgbClr val="0145AB"/>
                </a:solidFill>
                <a:latin typeface="Fredoka"/>
                <a:ea typeface="Fredoka"/>
                <a:cs typeface="Fredoka"/>
                <a:sym typeface="Fredoka"/>
              </a:rPr>
              <a:t> Consultants</a:t>
            </a:r>
          </a:p>
        </p:txBody>
      </p:sp>
      <p:sp>
        <p:nvSpPr>
          <p:cNvPr id="10" name="Freeform 10"/>
          <p:cNvSpPr/>
          <p:nvPr/>
        </p:nvSpPr>
        <p:spPr>
          <a:xfrm rot="9019445">
            <a:off x="15009518" y="7682320"/>
            <a:ext cx="5056399" cy="2452353"/>
          </a:xfrm>
          <a:custGeom>
            <a:avLst/>
            <a:gdLst/>
            <a:ahLst/>
            <a:cxnLst/>
            <a:rect l="l" t="t" r="r" b="b"/>
            <a:pathLst>
              <a:path w="5056399" h="2452353">
                <a:moveTo>
                  <a:pt x="0" y="0"/>
                </a:moveTo>
                <a:lnTo>
                  <a:pt x="5056398" y="0"/>
                </a:lnTo>
                <a:lnTo>
                  <a:pt x="5056398" y="2452353"/>
                </a:lnTo>
                <a:lnTo>
                  <a:pt x="0" y="245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129653" y="5589395"/>
            <a:ext cx="307459" cy="307459"/>
          </a:xfrm>
          <a:custGeom>
            <a:avLst/>
            <a:gdLst/>
            <a:ahLst/>
            <a:cxnLst/>
            <a:rect l="l" t="t" r="r" b="b"/>
            <a:pathLst>
              <a:path w="307459" h="307459">
                <a:moveTo>
                  <a:pt x="0" y="0"/>
                </a:moveTo>
                <a:lnTo>
                  <a:pt x="307459" y="0"/>
                </a:lnTo>
                <a:lnTo>
                  <a:pt x="307459" y="307458"/>
                </a:lnTo>
                <a:lnTo>
                  <a:pt x="0" y="3074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265854" flipH="1">
            <a:off x="-904636" y="5308241"/>
            <a:ext cx="4444581" cy="4647928"/>
          </a:xfrm>
          <a:custGeom>
            <a:avLst/>
            <a:gdLst/>
            <a:ahLst/>
            <a:cxnLst/>
            <a:rect l="l" t="t" r="r" b="b"/>
            <a:pathLst>
              <a:path w="4444581" h="4647928">
                <a:moveTo>
                  <a:pt x="4444581" y="0"/>
                </a:moveTo>
                <a:lnTo>
                  <a:pt x="0" y="0"/>
                </a:lnTo>
                <a:lnTo>
                  <a:pt x="0" y="4647928"/>
                </a:lnTo>
                <a:lnTo>
                  <a:pt x="4444581" y="4647928"/>
                </a:lnTo>
                <a:lnTo>
                  <a:pt x="444458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202547">
            <a:off x="16961549" y="4114006"/>
            <a:ext cx="1608275" cy="1681856"/>
          </a:xfrm>
          <a:custGeom>
            <a:avLst/>
            <a:gdLst/>
            <a:ahLst/>
            <a:cxnLst/>
            <a:rect l="l" t="t" r="r" b="b"/>
            <a:pathLst>
              <a:path w="1608275" h="1681856">
                <a:moveTo>
                  <a:pt x="0" y="0"/>
                </a:moveTo>
                <a:lnTo>
                  <a:pt x="1608275" y="0"/>
                </a:lnTo>
                <a:lnTo>
                  <a:pt x="1608275" y="1681856"/>
                </a:lnTo>
                <a:lnTo>
                  <a:pt x="0" y="1681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9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769698" y="5841754"/>
            <a:ext cx="9991977" cy="9842098"/>
          </a:xfrm>
          <a:custGeom>
            <a:avLst/>
            <a:gdLst/>
            <a:ahLst/>
            <a:cxnLst/>
            <a:rect l="l" t="t" r="r" b="b"/>
            <a:pathLst>
              <a:path w="9991977" h="9842098">
                <a:moveTo>
                  <a:pt x="0" y="0"/>
                </a:moveTo>
                <a:lnTo>
                  <a:pt x="9991977" y="0"/>
                </a:lnTo>
                <a:lnTo>
                  <a:pt x="9991977" y="9842098"/>
                </a:lnTo>
                <a:lnTo>
                  <a:pt x="0" y="98420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339943" y="9081342"/>
            <a:ext cx="2739274" cy="1039568"/>
          </a:xfrm>
          <a:custGeom>
            <a:avLst/>
            <a:gdLst/>
            <a:ahLst/>
            <a:cxnLst/>
            <a:rect l="l" t="t" r="r" b="b"/>
            <a:pathLst>
              <a:path w="2739274" h="1039568">
                <a:moveTo>
                  <a:pt x="0" y="0"/>
                </a:moveTo>
                <a:lnTo>
                  <a:pt x="2739274" y="0"/>
                </a:lnTo>
                <a:lnTo>
                  <a:pt x="2739274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62910" r="-6142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237677" y="9258300"/>
            <a:ext cx="4375851" cy="848163"/>
          </a:xfrm>
          <a:custGeom>
            <a:avLst/>
            <a:gdLst/>
            <a:ahLst/>
            <a:cxnLst/>
            <a:rect l="l" t="t" r="r" b="b"/>
            <a:pathLst>
              <a:path w="4375851" h="848163">
                <a:moveTo>
                  <a:pt x="0" y="0"/>
                </a:moveTo>
                <a:lnTo>
                  <a:pt x="4375850" y="0"/>
                </a:lnTo>
                <a:lnTo>
                  <a:pt x="4375850" y="848163"/>
                </a:lnTo>
                <a:lnTo>
                  <a:pt x="0" y="84816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8590" r="-5987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734045" y="9109917"/>
            <a:ext cx="861179" cy="1039568"/>
          </a:xfrm>
          <a:custGeom>
            <a:avLst/>
            <a:gdLst/>
            <a:ahLst/>
            <a:cxnLst/>
            <a:rect l="l" t="t" r="r" b="b"/>
            <a:pathLst>
              <a:path w="861179" h="1039568">
                <a:moveTo>
                  <a:pt x="0" y="0"/>
                </a:moveTo>
                <a:lnTo>
                  <a:pt x="861179" y="0"/>
                </a:lnTo>
                <a:lnTo>
                  <a:pt x="861179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r="-4334"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5497905" y="8846987"/>
            <a:ext cx="2790095" cy="1273923"/>
            <a:chOff x="0" y="0"/>
            <a:chExt cx="3720127" cy="1698564"/>
          </a:xfrm>
        </p:grpSpPr>
        <p:sp>
          <p:nvSpPr>
            <p:cNvPr id="19" name="Freeform 19"/>
            <p:cNvSpPr/>
            <p:nvPr/>
          </p:nvSpPr>
          <p:spPr>
            <a:xfrm>
              <a:off x="585344" y="0"/>
              <a:ext cx="2549440" cy="1698564"/>
            </a:xfrm>
            <a:custGeom>
              <a:avLst/>
              <a:gdLst/>
              <a:ahLst/>
              <a:cxnLst/>
              <a:rect l="l" t="t" r="r" b="b"/>
              <a:pathLst>
                <a:path w="2549440" h="1698564">
                  <a:moveTo>
                    <a:pt x="0" y="0"/>
                  </a:moveTo>
                  <a:lnTo>
                    <a:pt x="2549439" y="0"/>
                  </a:lnTo>
                  <a:lnTo>
                    <a:pt x="2549439" y="1698564"/>
                  </a:lnTo>
                  <a:lnTo>
                    <a:pt x="0" y="1698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1043636"/>
              <a:ext cx="3720127" cy="521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en-US" sz="242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@bic.muet 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43149" y="9692428"/>
            <a:ext cx="452957" cy="49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</a:pPr>
            <a:r>
              <a:rPr lang="en-US" sz="286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1653105-1172-4083-88D7-243C1AA0E0D5}"/>
              </a:ext>
            </a:extLst>
          </p:cNvPr>
          <p:cNvSpPr/>
          <p:nvPr/>
        </p:nvSpPr>
        <p:spPr>
          <a:xfrm>
            <a:off x="623968" y="403524"/>
            <a:ext cx="3262232" cy="2887089"/>
          </a:xfrm>
          <a:prstGeom prst="ellipse">
            <a:avLst/>
          </a:prstGeom>
          <a:blipFill dpi="0" rotWithShape="1"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2CFA72-07D2-4586-9236-C557A5F5E049}"/>
              </a:ext>
            </a:extLst>
          </p:cNvPr>
          <p:cNvSpPr/>
          <p:nvPr/>
        </p:nvSpPr>
        <p:spPr>
          <a:xfrm>
            <a:off x="3712845" y="3290613"/>
            <a:ext cx="10623758" cy="5388576"/>
          </a:xfrm>
          <a:prstGeom prst="rect">
            <a:avLst/>
          </a:prstGeom>
          <a:blipFill dpi="0"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19442" y="-741566"/>
            <a:ext cx="5746231" cy="5746231"/>
          </a:xfrm>
          <a:custGeom>
            <a:avLst/>
            <a:gdLst/>
            <a:ahLst/>
            <a:cxnLst/>
            <a:rect l="l" t="t" r="r" b="b"/>
            <a:pathLst>
              <a:path w="5746231" h="5746231">
                <a:moveTo>
                  <a:pt x="0" y="0"/>
                </a:moveTo>
                <a:lnTo>
                  <a:pt x="5746231" y="0"/>
                </a:lnTo>
                <a:lnTo>
                  <a:pt x="5746231" y="5746231"/>
                </a:lnTo>
                <a:lnTo>
                  <a:pt x="0" y="57462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019445">
            <a:off x="12619528" y="4589514"/>
            <a:ext cx="11701170" cy="5675068"/>
          </a:xfrm>
          <a:custGeom>
            <a:avLst/>
            <a:gdLst/>
            <a:ahLst/>
            <a:cxnLst/>
            <a:rect l="l" t="t" r="r" b="b"/>
            <a:pathLst>
              <a:path w="11701170" h="5675068">
                <a:moveTo>
                  <a:pt x="0" y="0"/>
                </a:moveTo>
                <a:lnTo>
                  <a:pt x="11701170" y="0"/>
                </a:lnTo>
                <a:lnTo>
                  <a:pt x="11701170" y="5675068"/>
                </a:lnTo>
                <a:lnTo>
                  <a:pt x="0" y="5675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2090443" y="3066903"/>
            <a:ext cx="7220097" cy="7220097"/>
          </a:xfrm>
          <a:custGeom>
            <a:avLst/>
            <a:gdLst/>
            <a:ahLst/>
            <a:cxnLst/>
            <a:rect l="l" t="t" r="r" b="b"/>
            <a:pathLst>
              <a:path w="7220097" h="7220097">
                <a:moveTo>
                  <a:pt x="0" y="0"/>
                </a:moveTo>
                <a:lnTo>
                  <a:pt x="7220096" y="0"/>
                </a:lnTo>
                <a:lnTo>
                  <a:pt x="7220096" y="7220097"/>
                </a:lnTo>
                <a:lnTo>
                  <a:pt x="0" y="7220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260232" y="-741566"/>
            <a:ext cx="3869422" cy="4851940"/>
          </a:xfrm>
          <a:custGeom>
            <a:avLst/>
            <a:gdLst/>
            <a:ahLst/>
            <a:cxnLst/>
            <a:rect l="l" t="t" r="r" b="b"/>
            <a:pathLst>
              <a:path w="3869422" h="4851940">
                <a:moveTo>
                  <a:pt x="3869422" y="0"/>
                </a:moveTo>
                <a:lnTo>
                  <a:pt x="0" y="0"/>
                </a:lnTo>
                <a:lnTo>
                  <a:pt x="0" y="4851940"/>
                </a:lnTo>
                <a:lnTo>
                  <a:pt x="3869422" y="4851940"/>
                </a:lnTo>
                <a:lnTo>
                  <a:pt x="386942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-1966554" y="2832771"/>
            <a:ext cx="7403666" cy="9283594"/>
          </a:xfrm>
          <a:custGeom>
            <a:avLst/>
            <a:gdLst/>
            <a:ahLst/>
            <a:cxnLst/>
            <a:rect l="l" t="t" r="r" b="b"/>
            <a:pathLst>
              <a:path w="7403666" h="9283594">
                <a:moveTo>
                  <a:pt x="7403666" y="0"/>
                </a:moveTo>
                <a:lnTo>
                  <a:pt x="0" y="0"/>
                </a:lnTo>
                <a:lnTo>
                  <a:pt x="0" y="9283594"/>
                </a:lnTo>
                <a:lnTo>
                  <a:pt x="7403666" y="9283594"/>
                </a:lnTo>
                <a:lnTo>
                  <a:pt x="7403666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326157" y="9258300"/>
            <a:ext cx="18471427" cy="4710951"/>
          </a:xfrm>
          <a:custGeom>
            <a:avLst/>
            <a:gdLst/>
            <a:ahLst/>
            <a:cxnLst/>
            <a:rect l="l" t="t" r="r" b="b"/>
            <a:pathLst>
              <a:path w="18471427" h="4710951">
                <a:moveTo>
                  <a:pt x="0" y="0"/>
                </a:moveTo>
                <a:lnTo>
                  <a:pt x="18471427" y="0"/>
                </a:lnTo>
                <a:lnTo>
                  <a:pt x="18471427" y="4710951"/>
                </a:lnTo>
                <a:lnTo>
                  <a:pt x="0" y="47109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1583" t="-447080" r="-20695" b="-10791"/>
            </a:stretch>
          </a:blipFill>
        </p:spPr>
      </p:sp>
      <p:sp>
        <p:nvSpPr>
          <p:cNvPr id="8" name="Freeform 8"/>
          <p:cNvSpPr/>
          <p:nvPr/>
        </p:nvSpPr>
        <p:spPr>
          <a:xfrm rot="-2203497">
            <a:off x="11813050" y="-1075251"/>
            <a:ext cx="12949900" cy="6280702"/>
          </a:xfrm>
          <a:custGeom>
            <a:avLst/>
            <a:gdLst/>
            <a:ahLst/>
            <a:cxnLst/>
            <a:rect l="l" t="t" r="r" b="b"/>
            <a:pathLst>
              <a:path w="12949900" h="6280702">
                <a:moveTo>
                  <a:pt x="0" y="0"/>
                </a:moveTo>
                <a:lnTo>
                  <a:pt x="12949900" y="0"/>
                </a:lnTo>
                <a:lnTo>
                  <a:pt x="12949900" y="6280702"/>
                </a:lnTo>
                <a:lnTo>
                  <a:pt x="0" y="62807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019445">
            <a:off x="15009518" y="7682320"/>
            <a:ext cx="5056399" cy="2452353"/>
          </a:xfrm>
          <a:custGeom>
            <a:avLst/>
            <a:gdLst/>
            <a:ahLst/>
            <a:cxnLst/>
            <a:rect l="l" t="t" r="r" b="b"/>
            <a:pathLst>
              <a:path w="5056399" h="2452353">
                <a:moveTo>
                  <a:pt x="0" y="0"/>
                </a:moveTo>
                <a:lnTo>
                  <a:pt x="5056398" y="0"/>
                </a:lnTo>
                <a:lnTo>
                  <a:pt x="5056398" y="2452353"/>
                </a:lnTo>
                <a:lnTo>
                  <a:pt x="0" y="2452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29653" y="5589395"/>
            <a:ext cx="307459" cy="307459"/>
          </a:xfrm>
          <a:custGeom>
            <a:avLst/>
            <a:gdLst/>
            <a:ahLst/>
            <a:cxnLst/>
            <a:rect l="l" t="t" r="r" b="b"/>
            <a:pathLst>
              <a:path w="307459" h="307459">
                <a:moveTo>
                  <a:pt x="0" y="0"/>
                </a:moveTo>
                <a:lnTo>
                  <a:pt x="307459" y="0"/>
                </a:lnTo>
                <a:lnTo>
                  <a:pt x="307459" y="307458"/>
                </a:lnTo>
                <a:lnTo>
                  <a:pt x="0" y="30745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65854" flipH="1">
            <a:off x="-904636" y="5308241"/>
            <a:ext cx="4444581" cy="4647928"/>
          </a:xfrm>
          <a:custGeom>
            <a:avLst/>
            <a:gdLst/>
            <a:ahLst/>
            <a:cxnLst/>
            <a:rect l="l" t="t" r="r" b="b"/>
            <a:pathLst>
              <a:path w="4444581" h="4647928">
                <a:moveTo>
                  <a:pt x="4444581" y="0"/>
                </a:moveTo>
                <a:lnTo>
                  <a:pt x="0" y="0"/>
                </a:lnTo>
                <a:lnTo>
                  <a:pt x="0" y="4647928"/>
                </a:lnTo>
                <a:lnTo>
                  <a:pt x="4444581" y="4647928"/>
                </a:lnTo>
                <a:lnTo>
                  <a:pt x="4444581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02547">
            <a:off x="16961549" y="4114006"/>
            <a:ext cx="1608275" cy="1681856"/>
          </a:xfrm>
          <a:custGeom>
            <a:avLst/>
            <a:gdLst/>
            <a:ahLst/>
            <a:cxnLst/>
            <a:rect l="l" t="t" r="r" b="b"/>
            <a:pathLst>
              <a:path w="1608275" h="1681856">
                <a:moveTo>
                  <a:pt x="0" y="0"/>
                </a:moveTo>
                <a:lnTo>
                  <a:pt x="1608275" y="0"/>
                </a:lnTo>
                <a:lnTo>
                  <a:pt x="1608275" y="1681856"/>
                </a:lnTo>
                <a:lnTo>
                  <a:pt x="0" y="16818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69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69698" y="5841754"/>
            <a:ext cx="9991977" cy="9842098"/>
          </a:xfrm>
          <a:custGeom>
            <a:avLst/>
            <a:gdLst/>
            <a:ahLst/>
            <a:cxnLst/>
            <a:rect l="l" t="t" r="r" b="b"/>
            <a:pathLst>
              <a:path w="9991977" h="9842098">
                <a:moveTo>
                  <a:pt x="0" y="0"/>
                </a:moveTo>
                <a:lnTo>
                  <a:pt x="9991977" y="0"/>
                </a:lnTo>
                <a:lnTo>
                  <a:pt x="9991977" y="9842098"/>
                </a:lnTo>
                <a:lnTo>
                  <a:pt x="0" y="984209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39943" y="9081342"/>
            <a:ext cx="2739274" cy="1039568"/>
          </a:xfrm>
          <a:custGeom>
            <a:avLst/>
            <a:gdLst/>
            <a:ahLst/>
            <a:cxnLst/>
            <a:rect l="l" t="t" r="r" b="b"/>
            <a:pathLst>
              <a:path w="2739274" h="1039568">
                <a:moveTo>
                  <a:pt x="0" y="0"/>
                </a:moveTo>
                <a:lnTo>
                  <a:pt x="2739274" y="0"/>
                </a:lnTo>
                <a:lnTo>
                  <a:pt x="2739274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62910" r="-6142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37677" y="9258300"/>
            <a:ext cx="4375851" cy="848163"/>
          </a:xfrm>
          <a:custGeom>
            <a:avLst/>
            <a:gdLst/>
            <a:ahLst/>
            <a:cxnLst/>
            <a:rect l="l" t="t" r="r" b="b"/>
            <a:pathLst>
              <a:path w="4375851" h="848163">
                <a:moveTo>
                  <a:pt x="0" y="0"/>
                </a:moveTo>
                <a:lnTo>
                  <a:pt x="4375850" y="0"/>
                </a:lnTo>
                <a:lnTo>
                  <a:pt x="4375850" y="848163"/>
                </a:lnTo>
                <a:lnTo>
                  <a:pt x="0" y="84816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8590" r="-598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734045" y="9109917"/>
            <a:ext cx="861179" cy="1039568"/>
          </a:xfrm>
          <a:custGeom>
            <a:avLst/>
            <a:gdLst/>
            <a:ahLst/>
            <a:cxnLst/>
            <a:rect l="l" t="t" r="r" b="b"/>
            <a:pathLst>
              <a:path w="861179" h="1039568">
                <a:moveTo>
                  <a:pt x="0" y="0"/>
                </a:moveTo>
                <a:lnTo>
                  <a:pt x="861179" y="0"/>
                </a:lnTo>
                <a:lnTo>
                  <a:pt x="861179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r="-4334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5497905" y="8846987"/>
            <a:ext cx="2790095" cy="1273923"/>
            <a:chOff x="0" y="0"/>
            <a:chExt cx="3720127" cy="1698564"/>
          </a:xfrm>
        </p:grpSpPr>
        <p:sp>
          <p:nvSpPr>
            <p:cNvPr id="18" name="Freeform 18"/>
            <p:cNvSpPr/>
            <p:nvPr/>
          </p:nvSpPr>
          <p:spPr>
            <a:xfrm>
              <a:off x="585344" y="0"/>
              <a:ext cx="2549440" cy="1698564"/>
            </a:xfrm>
            <a:custGeom>
              <a:avLst/>
              <a:gdLst/>
              <a:ahLst/>
              <a:cxnLst/>
              <a:rect l="l" t="t" r="r" b="b"/>
              <a:pathLst>
                <a:path w="2549440" h="1698564">
                  <a:moveTo>
                    <a:pt x="0" y="0"/>
                  </a:moveTo>
                  <a:lnTo>
                    <a:pt x="2549439" y="0"/>
                  </a:lnTo>
                  <a:lnTo>
                    <a:pt x="2549439" y="1698564"/>
                  </a:lnTo>
                  <a:lnTo>
                    <a:pt x="0" y="1698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1043636"/>
              <a:ext cx="3720127" cy="521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en-US" sz="242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@bic.muet 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-133692" y="1326344"/>
            <a:ext cx="7403666" cy="1177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62"/>
              </a:lnSpc>
              <a:spcBef>
                <a:spcPct val="0"/>
              </a:spcBef>
            </a:pPr>
            <a:r>
              <a:rPr lang="en-US" sz="7815" dirty="0">
                <a:solidFill>
                  <a:srgbClr val="004BA5"/>
                </a:solidFill>
                <a:latin typeface="Fredoka"/>
                <a:ea typeface="Fredoka"/>
                <a:cs typeface="Fredoka"/>
                <a:sym typeface="Fredoka"/>
              </a:rPr>
              <a:t>Introduction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20497" y="2446236"/>
            <a:ext cx="14135242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/>
              <a:t>Student-led. Faculty-guided. Industry-focused.</a:t>
            </a:r>
            <a:endParaRPr lang="en-US" sz="3600" dirty="0"/>
          </a:p>
          <a:p>
            <a:r>
              <a:rPr lang="en-US" sz="3600" dirty="0" err="1"/>
              <a:t>MChem</a:t>
            </a:r>
            <a:r>
              <a:rPr lang="en-US" sz="3600" dirty="0"/>
              <a:t> Consultants is a student-led initiative at MUET Jamshoro, guided by experienced faculty, delivering innovative chemical engineering solutions to SMEs in Sindh's industrial zones.</a:t>
            </a:r>
          </a:p>
          <a:p>
            <a:r>
              <a:rPr lang="en-US" sz="3600" dirty="0"/>
              <a:t>We bridge the gap between textbook knowledge and real-world industrial problems.</a:t>
            </a:r>
          </a:p>
          <a:p>
            <a:r>
              <a:rPr lang="en-US" sz="3600" b="1" dirty="0"/>
              <a:t>Mission:</a:t>
            </a:r>
            <a:r>
              <a:rPr lang="en-US" sz="3600" dirty="0"/>
              <a:t> Bridge academia and industry through affordable, high-impact engineering.</a:t>
            </a:r>
          </a:p>
          <a:p>
            <a:r>
              <a:rPr lang="en-US" sz="3600" b="1" dirty="0"/>
              <a:t>Vision:</a:t>
            </a:r>
            <a:r>
              <a:rPr lang="en-US" sz="3600" dirty="0"/>
              <a:t> Become Pakistan's trusted partner for sustainable industrial solutions.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8884" y="9692428"/>
            <a:ext cx="461487" cy="49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</a:pPr>
            <a:r>
              <a:rPr lang="en-US" sz="286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19442" y="-741566"/>
            <a:ext cx="5746231" cy="5746231"/>
          </a:xfrm>
          <a:custGeom>
            <a:avLst/>
            <a:gdLst/>
            <a:ahLst/>
            <a:cxnLst/>
            <a:rect l="l" t="t" r="r" b="b"/>
            <a:pathLst>
              <a:path w="5746231" h="5746231">
                <a:moveTo>
                  <a:pt x="0" y="0"/>
                </a:moveTo>
                <a:lnTo>
                  <a:pt x="5746231" y="0"/>
                </a:lnTo>
                <a:lnTo>
                  <a:pt x="5746231" y="5746231"/>
                </a:lnTo>
                <a:lnTo>
                  <a:pt x="0" y="5746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019445">
            <a:off x="12619528" y="4589514"/>
            <a:ext cx="11701170" cy="5675068"/>
          </a:xfrm>
          <a:custGeom>
            <a:avLst/>
            <a:gdLst/>
            <a:ahLst/>
            <a:cxnLst/>
            <a:rect l="l" t="t" r="r" b="b"/>
            <a:pathLst>
              <a:path w="11701170" h="5675068">
                <a:moveTo>
                  <a:pt x="0" y="0"/>
                </a:moveTo>
                <a:lnTo>
                  <a:pt x="11701170" y="0"/>
                </a:lnTo>
                <a:lnTo>
                  <a:pt x="11701170" y="5675068"/>
                </a:lnTo>
                <a:lnTo>
                  <a:pt x="0" y="5675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2090443" y="3066903"/>
            <a:ext cx="7220097" cy="7220097"/>
          </a:xfrm>
          <a:custGeom>
            <a:avLst/>
            <a:gdLst/>
            <a:ahLst/>
            <a:cxnLst/>
            <a:rect l="l" t="t" r="r" b="b"/>
            <a:pathLst>
              <a:path w="7220097" h="7220097">
                <a:moveTo>
                  <a:pt x="0" y="0"/>
                </a:moveTo>
                <a:lnTo>
                  <a:pt x="7220096" y="0"/>
                </a:lnTo>
                <a:lnTo>
                  <a:pt x="7220096" y="7220097"/>
                </a:lnTo>
                <a:lnTo>
                  <a:pt x="0" y="722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260232" y="-741566"/>
            <a:ext cx="3869422" cy="4851940"/>
          </a:xfrm>
          <a:custGeom>
            <a:avLst/>
            <a:gdLst/>
            <a:ahLst/>
            <a:cxnLst/>
            <a:rect l="l" t="t" r="r" b="b"/>
            <a:pathLst>
              <a:path w="3869422" h="4851940">
                <a:moveTo>
                  <a:pt x="3869422" y="0"/>
                </a:moveTo>
                <a:lnTo>
                  <a:pt x="0" y="0"/>
                </a:lnTo>
                <a:lnTo>
                  <a:pt x="0" y="4851940"/>
                </a:lnTo>
                <a:lnTo>
                  <a:pt x="3869422" y="4851940"/>
                </a:lnTo>
                <a:lnTo>
                  <a:pt x="38694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-1966554" y="2832771"/>
            <a:ext cx="7403666" cy="9283594"/>
          </a:xfrm>
          <a:custGeom>
            <a:avLst/>
            <a:gdLst/>
            <a:ahLst/>
            <a:cxnLst/>
            <a:rect l="l" t="t" r="r" b="b"/>
            <a:pathLst>
              <a:path w="7403666" h="9283594">
                <a:moveTo>
                  <a:pt x="7403666" y="0"/>
                </a:moveTo>
                <a:lnTo>
                  <a:pt x="0" y="0"/>
                </a:lnTo>
                <a:lnTo>
                  <a:pt x="0" y="9283594"/>
                </a:lnTo>
                <a:lnTo>
                  <a:pt x="7403666" y="9283594"/>
                </a:lnTo>
                <a:lnTo>
                  <a:pt x="74036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326157" y="9258300"/>
            <a:ext cx="18471427" cy="4710951"/>
          </a:xfrm>
          <a:custGeom>
            <a:avLst/>
            <a:gdLst/>
            <a:ahLst/>
            <a:cxnLst/>
            <a:rect l="l" t="t" r="r" b="b"/>
            <a:pathLst>
              <a:path w="18471427" h="4710951">
                <a:moveTo>
                  <a:pt x="0" y="0"/>
                </a:moveTo>
                <a:lnTo>
                  <a:pt x="18471427" y="0"/>
                </a:lnTo>
                <a:lnTo>
                  <a:pt x="18471427" y="4710951"/>
                </a:lnTo>
                <a:lnTo>
                  <a:pt x="0" y="4710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583" t="-447080" r="-20695" b="-10791"/>
            </a:stretch>
          </a:blipFill>
        </p:spPr>
      </p:sp>
      <p:sp>
        <p:nvSpPr>
          <p:cNvPr id="8" name="Freeform 8"/>
          <p:cNvSpPr/>
          <p:nvPr/>
        </p:nvSpPr>
        <p:spPr>
          <a:xfrm rot="-2203497">
            <a:off x="11813050" y="-1075251"/>
            <a:ext cx="12949900" cy="6280702"/>
          </a:xfrm>
          <a:custGeom>
            <a:avLst/>
            <a:gdLst/>
            <a:ahLst/>
            <a:cxnLst/>
            <a:rect l="l" t="t" r="r" b="b"/>
            <a:pathLst>
              <a:path w="12949900" h="6280702">
                <a:moveTo>
                  <a:pt x="0" y="0"/>
                </a:moveTo>
                <a:lnTo>
                  <a:pt x="12949900" y="0"/>
                </a:lnTo>
                <a:lnTo>
                  <a:pt x="12949900" y="6280702"/>
                </a:lnTo>
                <a:lnTo>
                  <a:pt x="0" y="62807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019445">
            <a:off x="15009518" y="7682320"/>
            <a:ext cx="5056399" cy="2452353"/>
          </a:xfrm>
          <a:custGeom>
            <a:avLst/>
            <a:gdLst/>
            <a:ahLst/>
            <a:cxnLst/>
            <a:rect l="l" t="t" r="r" b="b"/>
            <a:pathLst>
              <a:path w="5056399" h="2452353">
                <a:moveTo>
                  <a:pt x="0" y="0"/>
                </a:moveTo>
                <a:lnTo>
                  <a:pt x="5056398" y="0"/>
                </a:lnTo>
                <a:lnTo>
                  <a:pt x="5056398" y="2452353"/>
                </a:lnTo>
                <a:lnTo>
                  <a:pt x="0" y="245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29653" y="5589395"/>
            <a:ext cx="307459" cy="307459"/>
          </a:xfrm>
          <a:custGeom>
            <a:avLst/>
            <a:gdLst/>
            <a:ahLst/>
            <a:cxnLst/>
            <a:rect l="l" t="t" r="r" b="b"/>
            <a:pathLst>
              <a:path w="307459" h="307459">
                <a:moveTo>
                  <a:pt x="0" y="0"/>
                </a:moveTo>
                <a:lnTo>
                  <a:pt x="307459" y="0"/>
                </a:lnTo>
                <a:lnTo>
                  <a:pt x="307459" y="307458"/>
                </a:lnTo>
                <a:lnTo>
                  <a:pt x="0" y="3074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02547">
            <a:off x="16961549" y="4114006"/>
            <a:ext cx="1608275" cy="1681856"/>
          </a:xfrm>
          <a:custGeom>
            <a:avLst/>
            <a:gdLst/>
            <a:ahLst/>
            <a:cxnLst/>
            <a:rect l="l" t="t" r="r" b="b"/>
            <a:pathLst>
              <a:path w="1608275" h="1681856">
                <a:moveTo>
                  <a:pt x="0" y="0"/>
                </a:moveTo>
                <a:lnTo>
                  <a:pt x="1608275" y="0"/>
                </a:lnTo>
                <a:lnTo>
                  <a:pt x="1608275" y="1681856"/>
                </a:lnTo>
                <a:lnTo>
                  <a:pt x="0" y="1681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9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69698" y="5841754"/>
            <a:ext cx="9991977" cy="9842098"/>
          </a:xfrm>
          <a:custGeom>
            <a:avLst/>
            <a:gdLst/>
            <a:ahLst/>
            <a:cxnLst/>
            <a:rect l="l" t="t" r="r" b="b"/>
            <a:pathLst>
              <a:path w="9991977" h="9842098">
                <a:moveTo>
                  <a:pt x="0" y="0"/>
                </a:moveTo>
                <a:lnTo>
                  <a:pt x="9991977" y="0"/>
                </a:lnTo>
                <a:lnTo>
                  <a:pt x="9991977" y="9842098"/>
                </a:lnTo>
                <a:lnTo>
                  <a:pt x="0" y="98420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39943" y="9081342"/>
            <a:ext cx="2739274" cy="1039568"/>
          </a:xfrm>
          <a:custGeom>
            <a:avLst/>
            <a:gdLst/>
            <a:ahLst/>
            <a:cxnLst/>
            <a:rect l="l" t="t" r="r" b="b"/>
            <a:pathLst>
              <a:path w="2739274" h="1039568">
                <a:moveTo>
                  <a:pt x="0" y="0"/>
                </a:moveTo>
                <a:lnTo>
                  <a:pt x="2739274" y="0"/>
                </a:lnTo>
                <a:lnTo>
                  <a:pt x="2739274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62910" r="-6142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37677" y="9258300"/>
            <a:ext cx="4375851" cy="848163"/>
          </a:xfrm>
          <a:custGeom>
            <a:avLst/>
            <a:gdLst/>
            <a:ahLst/>
            <a:cxnLst/>
            <a:rect l="l" t="t" r="r" b="b"/>
            <a:pathLst>
              <a:path w="4375851" h="848163">
                <a:moveTo>
                  <a:pt x="0" y="0"/>
                </a:moveTo>
                <a:lnTo>
                  <a:pt x="4375850" y="0"/>
                </a:lnTo>
                <a:lnTo>
                  <a:pt x="4375850" y="848163"/>
                </a:lnTo>
                <a:lnTo>
                  <a:pt x="0" y="84816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8590" r="-598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734045" y="9109917"/>
            <a:ext cx="861179" cy="1039568"/>
          </a:xfrm>
          <a:custGeom>
            <a:avLst/>
            <a:gdLst/>
            <a:ahLst/>
            <a:cxnLst/>
            <a:rect l="l" t="t" r="r" b="b"/>
            <a:pathLst>
              <a:path w="861179" h="1039568">
                <a:moveTo>
                  <a:pt x="0" y="0"/>
                </a:moveTo>
                <a:lnTo>
                  <a:pt x="861179" y="0"/>
                </a:lnTo>
                <a:lnTo>
                  <a:pt x="861179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r="-4334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5497905" y="8846987"/>
            <a:ext cx="2790095" cy="1273923"/>
            <a:chOff x="0" y="0"/>
            <a:chExt cx="3720127" cy="1698564"/>
          </a:xfrm>
        </p:grpSpPr>
        <p:sp>
          <p:nvSpPr>
            <p:cNvPr id="18" name="Freeform 18"/>
            <p:cNvSpPr/>
            <p:nvPr/>
          </p:nvSpPr>
          <p:spPr>
            <a:xfrm>
              <a:off x="585344" y="0"/>
              <a:ext cx="2549440" cy="1698564"/>
            </a:xfrm>
            <a:custGeom>
              <a:avLst/>
              <a:gdLst/>
              <a:ahLst/>
              <a:cxnLst/>
              <a:rect l="l" t="t" r="r" b="b"/>
              <a:pathLst>
                <a:path w="2549440" h="1698564">
                  <a:moveTo>
                    <a:pt x="0" y="0"/>
                  </a:moveTo>
                  <a:lnTo>
                    <a:pt x="2549439" y="0"/>
                  </a:lnTo>
                  <a:lnTo>
                    <a:pt x="2549439" y="1698564"/>
                  </a:lnTo>
                  <a:lnTo>
                    <a:pt x="0" y="1698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1043636"/>
              <a:ext cx="3720127" cy="521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en-US" sz="242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@bic.muet 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-171413" y="186863"/>
            <a:ext cx="10602132" cy="1177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62"/>
              </a:lnSpc>
              <a:spcBef>
                <a:spcPct val="0"/>
              </a:spcBef>
            </a:pPr>
            <a:r>
              <a:rPr lang="en-US" sz="6600" dirty="0">
                <a:solidFill>
                  <a:srgbClr val="004BA5"/>
                </a:solidFill>
                <a:latin typeface="Fredoka"/>
                <a:ea typeface="Fredoka"/>
                <a:cs typeface="Fredoka"/>
                <a:sym typeface="Fredoka"/>
              </a:rPr>
              <a:t>Problem Statement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8373" y="1598112"/>
            <a:ext cx="14192214" cy="5970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i="1" dirty="0"/>
              <a:t>Three problems. One reality. Millions lost.</a:t>
            </a:r>
          </a:p>
          <a:p>
            <a:r>
              <a:rPr lang="en-US" sz="4400" b="1" dirty="0"/>
              <a:t>Inefficient processes:</a:t>
            </a:r>
            <a:r>
              <a:rPr lang="en-US" sz="4400" dirty="0"/>
              <a:t> Aging infrastructure, legacy systems, and 15–20% material &amp; energy waste.</a:t>
            </a:r>
          </a:p>
          <a:p>
            <a:r>
              <a:rPr lang="en-US" sz="4400" b="1" dirty="0"/>
              <a:t>Sustainability gaps:</a:t>
            </a:r>
            <a:r>
              <a:rPr lang="en-US" sz="4400" dirty="0"/>
              <a:t> Lack of expertise to manage emissions, waste, and adopt green technologies.</a:t>
            </a:r>
          </a:p>
          <a:p>
            <a:r>
              <a:rPr lang="en-US" sz="4400" b="1" dirty="0"/>
              <a:t>Safety risks:</a:t>
            </a:r>
            <a:r>
              <a:rPr lang="en-US" sz="4400" dirty="0"/>
              <a:t> Unidentified hazards, reactive safety protocols, and no predictive maintenance.</a:t>
            </a:r>
          </a:p>
          <a:p>
            <a:r>
              <a:rPr lang="en-US" sz="4400" b="1" dirty="0"/>
              <a:t>Result:</a:t>
            </a:r>
            <a:r>
              <a:rPr lang="en-US" sz="4400" dirty="0"/>
              <a:t> Reduced profitability, low sustainability, and weak global competitiveness.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9479" y="9692428"/>
            <a:ext cx="480296" cy="49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</a:pPr>
            <a:r>
              <a:rPr lang="en-US" sz="286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19442" y="-741566"/>
            <a:ext cx="5746231" cy="5746231"/>
          </a:xfrm>
          <a:custGeom>
            <a:avLst/>
            <a:gdLst/>
            <a:ahLst/>
            <a:cxnLst/>
            <a:rect l="l" t="t" r="r" b="b"/>
            <a:pathLst>
              <a:path w="5746231" h="5746231">
                <a:moveTo>
                  <a:pt x="0" y="0"/>
                </a:moveTo>
                <a:lnTo>
                  <a:pt x="5746231" y="0"/>
                </a:lnTo>
                <a:lnTo>
                  <a:pt x="5746231" y="5746231"/>
                </a:lnTo>
                <a:lnTo>
                  <a:pt x="0" y="5746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019445">
            <a:off x="12619528" y="4589514"/>
            <a:ext cx="11701170" cy="5675068"/>
          </a:xfrm>
          <a:custGeom>
            <a:avLst/>
            <a:gdLst/>
            <a:ahLst/>
            <a:cxnLst/>
            <a:rect l="l" t="t" r="r" b="b"/>
            <a:pathLst>
              <a:path w="11701170" h="5675068">
                <a:moveTo>
                  <a:pt x="0" y="0"/>
                </a:moveTo>
                <a:lnTo>
                  <a:pt x="11701170" y="0"/>
                </a:lnTo>
                <a:lnTo>
                  <a:pt x="11701170" y="5675068"/>
                </a:lnTo>
                <a:lnTo>
                  <a:pt x="0" y="5675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2090443" y="3066903"/>
            <a:ext cx="7220097" cy="7220097"/>
          </a:xfrm>
          <a:custGeom>
            <a:avLst/>
            <a:gdLst/>
            <a:ahLst/>
            <a:cxnLst/>
            <a:rect l="l" t="t" r="r" b="b"/>
            <a:pathLst>
              <a:path w="7220097" h="7220097">
                <a:moveTo>
                  <a:pt x="0" y="0"/>
                </a:moveTo>
                <a:lnTo>
                  <a:pt x="7220096" y="0"/>
                </a:lnTo>
                <a:lnTo>
                  <a:pt x="7220096" y="7220097"/>
                </a:lnTo>
                <a:lnTo>
                  <a:pt x="0" y="722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260232" y="-741566"/>
            <a:ext cx="3869422" cy="4851940"/>
          </a:xfrm>
          <a:custGeom>
            <a:avLst/>
            <a:gdLst/>
            <a:ahLst/>
            <a:cxnLst/>
            <a:rect l="l" t="t" r="r" b="b"/>
            <a:pathLst>
              <a:path w="3869422" h="4851940">
                <a:moveTo>
                  <a:pt x="3869422" y="0"/>
                </a:moveTo>
                <a:lnTo>
                  <a:pt x="0" y="0"/>
                </a:lnTo>
                <a:lnTo>
                  <a:pt x="0" y="4851940"/>
                </a:lnTo>
                <a:lnTo>
                  <a:pt x="3869422" y="4851940"/>
                </a:lnTo>
                <a:lnTo>
                  <a:pt x="38694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-1966554" y="2832771"/>
            <a:ext cx="7403666" cy="9283594"/>
          </a:xfrm>
          <a:custGeom>
            <a:avLst/>
            <a:gdLst/>
            <a:ahLst/>
            <a:cxnLst/>
            <a:rect l="l" t="t" r="r" b="b"/>
            <a:pathLst>
              <a:path w="7403666" h="9283594">
                <a:moveTo>
                  <a:pt x="7403666" y="0"/>
                </a:moveTo>
                <a:lnTo>
                  <a:pt x="0" y="0"/>
                </a:lnTo>
                <a:lnTo>
                  <a:pt x="0" y="9283594"/>
                </a:lnTo>
                <a:lnTo>
                  <a:pt x="7403666" y="9283594"/>
                </a:lnTo>
                <a:lnTo>
                  <a:pt x="74036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326157" y="9258300"/>
            <a:ext cx="18471427" cy="4710951"/>
          </a:xfrm>
          <a:custGeom>
            <a:avLst/>
            <a:gdLst/>
            <a:ahLst/>
            <a:cxnLst/>
            <a:rect l="l" t="t" r="r" b="b"/>
            <a:pathLst>
              <a:path w="18471427" h="4710951">
                <a:moveTo>
                  <a:pt x="0" y="0"/>
                </a:moveTo>
                <a:lnTo>
                  <a:pt x="18471427" y="0"/>
                </a:lnTo>
                <a:lnTo>
                  <a:pt x="18471427" y="4710951"/>
                </a:lnTo>
                <a:lnTo>
                  <a:pt x="0" y="4710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583" t="-447080" r="-20695" b="-10791"/>
            </a:stretch>
          </a:blipFill>
        </p:spPr>
      </p:sp>
      <p:sp>
        <p:nvSpPr>
          <p:cNvPr id="8" name="Freeform 8"/>
          <p:cNvSpPr/>
          <p:nvPr/>
        </p:nvSpPr>
        <p:spPr>
          <a:xfrm rot="-2203497">
            <a:off x="11813050" y="-1075251"/>
            <a:ext cx="12949900" cy="6280702"/>
          </a:xfrm>
          <a:custGeom>
            <a:avLst/>
            <a:gdLst/>
            <a:ahLst/>
            <a:cxnLst/>
            <a:rect l="l" t="t" r="r" b="b"/>
            <a:pathLst>
              <a:path w="12949900" h="6280702">
                <a:moveTo>
                  <a:pt x="0" y="0"/>
                </a:moveTo>
                <a:lnTo>
                  <a:pt x="12949900" y="0"/>
                </a:lnTo>
                <a:lnTo>
                  <a:pt x="12949900" y="6280702"/>
                </a:lnTo>
                <a:lnTo>
                  <a:pt x="0" y="62807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019445">
            <a:off x="15009518" y="7682320"/>
            <a:ext cx="5056399" cy="2452353"/>
          </a:xfrm>
          <a:custGeom>
            <a:avLst/>
            <a:gdLst/>
            <a:ahLst/>
            <a:cxnLst/>
            <a:rect l="l" t="t" r="r" b="b"/>
            <a:pathLst>
              <a:path w="5056399" h="2452353">
                <a:moveTo>
                  <a:pt x="0" y="0"/>
                </a:moveTo>
                <a:lnTo>
                  <a:pt x="5056398" y="0"/>
                </a:lnTo>
                <a:lnTo>
                  <a:pt x="5056398" y="2452353"/>
                </a:lnTo>
                <a:lnTo>
                  <a:pt x="0" y="245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29653" y="5589395"/>
            <a:ext cx="307459" cy="307459"/>
          </a:xfrm>
          <a:custGeom>
            <a:avLst/>
            <a:gdLst/>
            <a:ahLst/>
            <a:cxnLst/>
            <a:rect l="l" t="t" r="r" b="b"/>
            <a:pathLst>
              <a:path w="307459" h="307459">
                <a:moveTo>
                  <a:pt x="0" y="0"/>
                </a:moveTo>
                <a:lnTo>
                  <a:pt x="307459" y="0"/>
                </a:lnTo>
                <a:lnTo>
                  <a:pt x="307459" y="307458"/>
                </a:lnTo>
                <a:lnTo>
                  <a:pt x="0" y="3074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02547">
            <a:off x="16961549" y="4114006"/>
            <a:ext cx="1608275" cy="1681856"/>
          </a:xfrm>
          <a:custGeom>
            <a:avLst/>
            <a:gdLst/>
            <a:ahLst/>
            <a:cxnLst/>
            <a:rect l="l" t="t" r="r" b="b"/>
            <a:pathLst>
              <a:path w="1608275" h="1681856">
                <a:moveTo>
                  <a:pt x="0" y="0"/>
                </a:moveTo>
                <a:lnTo>
                  <a:pt x="1608275" y="0"/>
                </a:lnTo>
                <a:lnTo>
                  <a:pt x="1608275" y="1681856"/>
                </a:lnTo>
                <a:lnTo>
                  <a:pt x="0" y="1681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9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966202" y="4761332"/>
            <a:ext cx="9991977" cy="9842098"/>
          </a:xfrm>
          <a:custGeom>
            <a:avLst/>
            <a:gdLst/>
            <a:ahLst/>
            <a:cxnLst/>
            <a:rect l="l" t="t" r="r" b="b"/>
            <a:pathLst>
              <a:path w="9991977" h="9842098">
                <a:moveTo>
                  <a:pt x="0" y="0"/>
                </a:moveTo>
                <a:lnTo>
                  <a:pt x="9991977" y="0"/>
                </a:lnTo>
                <a:lnTo>
                  <a:pt x="9991977" y="9842098"/>
                </a:lnTo>
                <a:lnTo>
                  <a:pt x="0" y="98420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39943" y="9081342"/>
            <a:ext cx="2739274" cy="1039568"/>
          </a:xfrm>
          <a:custGeom>
            <a:avLst/>
            <a:gdLst/>
            <a:ahLst/>
            <a:cxnLst/>
            <a:rect l="l" t="t" r="r" b="b"/>
            <a:pathLst>
              <a:path w="2739274" h="1039568">
                <a:moveTo>
                  <a:pt x="0" y="0"/>
                </a:moveTo>
                <a:lnTo>
                  <a:pt x="2739274" y="0"/>
                </a:lnTo>
                <a:lnTo>
                  <a:pt x="2739274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62910" r="-6142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37677" y="9258300"/>
            <a:ext cx="4375851" cy="848163"/>
          </a:xfrm>
          <a:custGeom>
            <a:avLst/>
            <a:gdLst/>
            <a:ahLst/>
            <a:cxnLst/>
            <a:rect l="l" t="t" r="r" b="b"/>
            <a:pathLst>
              <a:path w="4375851" h="848163">
                <a:moveTo>
                  <a:pt x="0" y="0"/>
                </a:moveTo>
                <a:lnTo>
                  <a:pt x="4375850" y="0"/>
                </a:lnTo>
                <a:lnTo>
                  <a:pt x="4375850" y="848163"/>
                </a:lnTo>
                <a:lnTo>
                  <a:pt x="0" y="84816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8590" r="-598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734045" y="9109917"/>
            <a:ext cx="861179" cy="1039568"/>
          </a:xfrm>
          <a:custGeom>
            <a:avLst/>
            <a:gdLst/>
            <a:ahLst/>
            <a:cxnLst/>
            <a:rect l="l" t="t" r="r" b="b"/>
            <a:pathLst>
              <a:path w="861179" h="1039568">
                <a:moveTo>
                  <a:pt x="0" y="0"/>
                </a:moveTo>
                <a:lnTo>
                  <a:pt x="861179" y="0"/>
                </a:lnTo>
                <a:lnTo>
                  <a:pt x="861179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r="-4334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5497905" y="8846987"/>
            <a:ext cx="2790095" cy="1273923"/>
            <a:chOff x="0" y="0"/>
            <a:chExt cx="3720127" cy="1698564"/>
          </a:xfrm>
        </p:grpSpPr>
        <p:sp>
          <p:nvSpPr>
            <p:cNvPr id="18" name="Freeform 18"/>
            <p:cNvSpPr/>
            <p:nvPr/>
          </p:nvSpPr>
          <p:spPr>
            <a:xfrm>
              <a:off x="585344" y="0"/>
              <a:ext cx="2549440" cy="1698564"/>
            </a:xfrm>
            <a:custGeom>
              <a:avLst/>
              <a:gdLst/>
              <a:ahLst/>
              <a:cxnLst/>
              <a:rect l="l" t="t" r="r" b="b"/>
              <a:pathLst>
                <a:path w="2549440" h="1698564">
                  <a:moveTo>
                    <a:pt x="0" y="0"/>
                  </a:moveTo>
                  <a:lnTo>
                    <a:pt x="2549439" y="0"/>
                  </a:lnTo>
                  <a:lnTo>
                    <a:pt x="2549439" y="1698564"/>
                  </a:lnTo>
                  <a:lnTo>
                    <a:pt x="0" y="1698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1043636"/>
              <a:ext cx="3720127" cy="521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en-US" sz="242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@bic.muet 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-42339" y="166089"/>
            <a:ext cx="4895779" cy="1177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62"/>
              </a:lnSpc>
              <a:spcBef>
                <a:spcPct val="0"/>
              </a:spcBef>
            </a:pPr>
            <a:r>
              <a:rPr lang="en-US" sz="6600" dirty="0">
                <a:solidFill>
                  <a:srgbClr val="004BA5"/>
                </a:solidFill>
                <a:latin typeface="Fredoka"/>
                <a:ea typeface="Fredoka"/>
                <a:cs typeface="Fredoka"/>
                <a:sym typeface="Fredoka"/>
              </a:rPr>
              <a:t> Solution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3197" y="9692428"/>
            <a:ext cx="472860" cy="49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</a:pPr>
            <a:r>
              <a:rPr lang="en-US" sz="286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E1974E-A5B3-42D5-9535-F98526F97097}"/>
              </a:ext>
            </a:extLst>
          </p:cNvPr>
          <p:cNvSpPr/>
          <p:nvPr/>
        </p:nvSpPr>
        <p:spPr>
          <a:xfrm>
            <a:off x="924366" y="8323345"/>
            <a:ext cx="113614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i="1" dirty="0"/>
              <a:t>We don’t just fix problems — we transform operations.</a:t>
            </a:r>
            <a:endParaRPr lang="en-US" sz="3200" b="1" dirty="0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C486DDD-D246-4ED0-9453-827BA45A1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013258"/>
              </p:ext>
            </p:extLst>
          </p:nvPr>
        </p:nvGraphicFramePr>
        <p:xfrm>
          <a:off x="1605425" y="1666685"/>
          <a:ext cx="12166514" cy="4902200"/>
        </p:xfrm>
        <a:graphic>
          <a:graphicData uri="http://schemas.openxmlformats.org/drawingml/2006/table">
            <a:tbl>
              <a:tblPr/>
              <a:tblGrid>
                <a:gridCol w="6083257">
                  <a:extLst>
                    <a:ext uri="{9D8B030D-6E8A-4147-A177-3AD203B41FA5}">
                      <a16:colId xmlns:a16="http://schemas.microsoft.com/office/drawing/2014/main" val="2063252897"/>
                    </a:ext>
                  </a:extLst>
                </a:gridCol>
                <a:gridCol w="6083257">
                  <a:extLst>
                    <a:ext uri="{9D8B030D-6E8A-4147-A177-3AD203B41FA5}">
                      <a16:colId xmlns:a16="http://schemas.microsoft.com/office/drawing/2014/main" val="447195130"/>
                    </a:ext>
                  </a:extLst>
                </a:gridCol>
              </a:tblGrid>
              <a:tr h="650669">
                <a:tc>
                  <a:txBody>
                    <a:bodyPr/>
                    <a:lstStyle/>
                    <a:p>
                      <a:pPr algn="l"/>
                      <a:r>
                        <a:rPr lang="en-US" sz="4000" b="1" dirty="0">
                          <a:effectLst/>
                          <a:latin typeface="quote-cjk-patch"/>
                        </a:rPr>
                        <a:t>Service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000" b="1">
                          <a:effectLst/>
                          <a:latin typeface="quote-cjk-patch"/>
                        </a:rPr>
                        <a:t>Impact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0650608"/>
                  </a:ext>
                </a:extLst>
              </a:tr>
              <a:tr h="1152102">
                <a:tc>
                  <a:txBody>
                    <a:bodyPr/>
                    <a:lstStyle/>
                    <a:p>
                      <a:r>
                        <a:rPr lang="en-US" sz="4000" b="1">
                          <a:effectLst/>
                          <a:latin typeface="quote-cjk-patch"/>
                        </a:rPr>
                        <a:t>Process Modeling &amp; Simulation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>
                          <a:effectLst/>
                          <a:latin typeface="quote-cjk-patch"/>
                        </a:rPr>
                        <a:t>Optimize performance, reduce OPEX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445273"/>
                  </a:ext>
                </a:extLst>
              </a:tr>
              <a:tr h="1152102">
                <a:tc>
                  <a:txBody>
                    <a:bodyPr/>
                    <a:lstStyle/>
                    <a:p>
                      <a:r>
                        <a:rPr lang="en-US" sz="4000" b="1">
                          <a:effectLst/>
                          <a:latin typeface="quote-cjk-patch"/>
                        </a:rPr>
                        <a:t>Sustainable Engineering Audits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>
                          <a:effectLst/>
                          <a:latin typeface="quote-cjk-patch"/>
                        </a:rPr>
                        <a:t>Cut waste, recover energy, lower emissions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8887723"/>
                  </a:ext>
                </a:extLst>
              </a:tr>
              <a:tr h="650669">
                <a:tc>
                  <a:txBody>
                    <a:bodyPr/>
                    <a:lstStyle/>
                    <a:p>
                      <a:r>
                        <a:rPr lang="en-US" sz="4000" b="1">
                          <a:effectLst/>
                          <a:latin typeface="quote-cjk-patch"/>
                        </a:rPr>
                        <a:t>Cost &amp; Feasibility Studies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>
                          <a:effectLst/>
                          <a:latin typeface="quote-cjk-patch"/>
                        </a:rPr>
                        <a:t>Ensure ROI before investing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553926"/>
                  </a:ext>
                </a:extLst>
              </a:tr>
              <a:tr h="650669">
                <a:tc>
                  <a:txBody>
                    <a:bodyPr/>
                    <a:lstStyle/>
                    <a:p>
                      <a:r>
                        <a:rPr lang="en-US" sz="4000" b="1" dirty="0">
                          <a:effectLst/>
                          <a:latin typeface="quote-cjk-patch"/>
                        </a:rPr>
                        <a:t>Customized Training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>
                          <a:effectLst/>
                          <a:latin typeface="quote-cjk-patch"/>
                        </a:rPr>
                        <a:t>Build in-house expertise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22997"/>
                  </a:ext>
                </a:extLst>
              </a:tr>
            </a:tbl>
          </a:graphicData>
        </a:graphic>
      </p:graphicFrame>
      <p:sp>
        <p:nvSpPr>
          <p:cNvPr id="36" name="Rectangle 6">
            <a:extLst>
              <a:ext uri="{FF2B5EF4-FFF2-40B4-BE49-F238E27FC236}">
                <a16:creationId xmlns:a16="http://schemas.microsoft.com/office/drawing/2014/main" id="{AF4B9A7E-34F9-4EC4-ABAA-3C2FC1E78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351" y="6757249"/>
            <a:ext cx="11235576" cy="17543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Why us?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Student-led = cheaper. Faculty-guided = quality assured.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Sustainability-first = future-ready.</a:t>
            </a: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19442" y="-741566"/>
            <a:ext cx="5746231" cy="5746231"/>
          </a:xfrm>
          <a:custGeom>
            <a:avLst/>
            <a:gdLst/>
            <a:ahLst/>
            <a:cxnLst/>
            <a:rect l="l" t="t" r="r" b="b"/>
            <a:pathLst>
              <a:path w="5746231" h="5746231">
                <a:moveTo>
                  <a:pt x="0" y="0"/>
                </a:moveTo>
                <a:lnTo>
                  <a:pt x="5746231" y="0"/>
                </a:lnTo>
                <a:lnTo>
                  <a:pt x="5746231" y="5746231"/>
                </a:lnTo>
                <a:lnTo>
                  <a:pt x="0" y="5746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019445">
            <a:off x="12619528" y="4589514"/>
            <a:ext cx="11701170" cy="5675068"/>
          </a:xfrm>
          <a:custGeom>
            <a:avLst/>
            <a:gdLst/>
            <a:ahLst/>
            <a:cxnLst/>
            <a:rect l="l" t="t" r="r" b="b"/>
            <a:pathLst>
              <a:path w="11701170" h="5675068">
                <a:moveTo>
                  <a:pt x="0" y="0"/>
                </a:moveTo>
                <a:lnTo>
                  <a:pt x="11701170" y="0"/>
                </a:lnTo>
                <a:lnTo>
                  <a:pt x="11701170" y="5675068"/>
                </a:lnTo>
                <a:lnTo>
                  <a:pt x="0" y="5675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2090443" y="3066903"/>
            <a:ext cx="7220097" cy="7220097"/>
          </a:xfrm>
          <a:custGeom>
            <a:avLst/>
            <a:gdLst/>
            <a:ahLst/>
            <a:cxnLst/>
            <a:rect l="l" t="t" r="r" b="b"/>
            <a:pathLst>
              <a:path w="7220097" h="7220097">
                <a:moveTo>
                  <a:pt x="0" y="0"/>
                </a:moveTo>
                <a:lnTo>
                  <a:pt x="7220096" y="0"/>
                </a:lnTo>
                <a:lnTo>
                  <a:pt x="7220096" y="7220097"/>
                </a:lnTo>
                <a:lnTo>
                  <a:pt x="0" y="722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260232" y="-741566"/>
            <a:ext cx="3869422" cy="4851940"/>
          </a:xfrm>
          <a:custGeom>
            <a:avLst/>
            <a:gdLst/>
            <a:ahLst/>
            <a:cxnLst/>
            <a:rect l="l" t="t" r="r" b="b"/>
            <a:pathLst>
              <a:path w="3869422" h="4851940">
                <a:moveTo>
                  <a:pt x="3869422" y="0"/>
                </a:moveTo>
                <a:lnTo>
                  <a:pt x="0" y="0"/>
                </a:lnTo>
                <a:lnTo>
                  <a:pt x="0" y="4851940"/>
                </a:lnTo>
                <a:lnTo>
                  <a:pt x="3869422" y="4851940"/>
                </a:lnTo>
                <a:lnTo>
                  <a:pt x="38694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-1966554" y="2832771"/>
            <a:ext cx="7403666" cy="9283594"/>
          </a:xfrm>
          <a:custGeom>
            <a:avLst/>
            <a:gdLst/>
            <a:ahLst/>
            <a:cxnLst/>
            <a:rect l="l" t="t" r="r" b="b"/>
            <a:pathLst>
              <a:path w="7403666" h="9283594">
                <a:moveTo>
                  <a:pt x="7403666" y="0"/>
                </a:moveTo>
                <a:lnTo>
                  <a:pt x="0" y="0"/>
                </a:lnTo>
                <a:lnTo>
                  <a:pt x="0" y="9283594"/>
                </a:lnTo>
                <a:lnTo>
                  <a:pt x="7403666" y="9283594"/>
                </a:lnTo>
                <a:lnTo>
                  <a:pt x="74036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326157" y="9258300"/>
            <a:ext cx="18471427" cy="4710951"/>
          </a:xfrm>
          <a:custGeom>
            <a:avLst/>
            <a:gdLst/>
            <a:ahLst/>
            <a:cxnLst/>
            <a:rect l="l" t="t" r="r" b="b"/>
            <a:pathLst>
              <a:path w="18471427" h="4710951">
                <a:moveTo>
                  <a:pt x="0" y="0"/>
                </a:moveTo>
                <a:lnTo>
                  <a:pt x="18471427" y="0"/>
                </a:lnTo>
                <a:lnTo>
                  <a:pt x="18471427" y="4710951"/>
                </a:lnTo>
                <a:lnTo>
                  <a:pt x="0" y="4710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583" t="-447080" r="-20695" b="-10791"/>
            </a:stretch>
          </a:blipFill>
        </p:spPr>
      </p:sp>
      <p:sp>
        <p:nvSpPr>
          <p:cNvPr id="8" name="Freeform 8"/>
          <p:cNvSpPr/>
          <p:nvPr/>
        </p:nvSpPr>
        <p:spPr>
          <a:xfrm rot="-2203497">
            <a:off x="11937035" y="-1075251"/>
            <a:ext cx="12949900" cy="6280702"/>
          </a:xfrm>
          <a:custGeom>
            <a:avLst/>
            <a:gdLst/>
            <a:ahLst/>
            <a:cxnLst/>
            <a:rect l="l" t="t" r="r" b="b"/>
            <a:pathLst>
              <a:path w="12949900" h="6280702">
                <a:moveTo>
                  <a:pt x="0" y="0"/>
                </a:moveTo>
                <a:lnTo>
                  <a:pt x="12949900" y="0"/>
                </a:lnTo>
                <a:lnTo>
                  <a:pt x="12949900" y="6280702"/>
                </a:lnTo>
                <a:lnTo>
                  <a:pt x="0" y="62807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019445">
            <a:off x="15009518" y="7682320"/>
            <a:ext cx="5056399" cy="2452353"/>
          </a:xfrm>
          <a:custGeom>
            <a:avLst/>
            <a:gdLst/>
            <a:ahLst/>
            <a:cxnLst/>
            <a:rect l="l" t="t" r="r" b="b"/>
            <a:pathLst>
              <a:path w="5056399" h="2452353">
                <a:moveTo>
                  <a:pt x="0" y="0"/>
                </a:moveTo>
                <a:lnTo>
                  <a:pt x="5056398" y="0"/>
                </a:lnTo>
                <a:lnTo>
                  <a:pt x="5056398" y="2452353"/>
                </a:lnTo>
                <a:lnTo>
                  <a:pt x="0" y="245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29653" y="5589395"/>
            <a:ext cx="307459" cy="307459"/>
          </a:xfrm>
          <a:custGeom>
            <a:avLst/>
            <a:gdLst/>
            <a:ahLst/>
            <a:cxnLst/>
            <a:rect l="l" t="t" r="r" b="b"/>
            <a:pathLst>
              <a:path w="307459" h="307459">
                <a:moveTo>
                  <a:pt x="0" y="0"/>
                </a:moveTo>
                <a:lnTo>
                  <a:pt x="307459" y="0"/>
                </a:lnTo>
                <a:lnTo>
                  <a:pt x="307459" y="307458"/>
                </a:lnTo>
                <a:lnTo>
                  <a:pt x="0" y="3074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65854" flipH="1">
            <a:off x="-904636" y="5308241"/>
            <a:ext cx="4444581" cy="4647928"/>
          </a:xfrm>
          <a:custGeom>
            <a:avLst/>
            <a:gdLst/>
            <a:ahLst/>
            <a:cxnLst/>
            <a:rect l="l" t="t" r="r" b="b"/>
            <a:pathLst>
              <a:path w="4444581" h="4647928">
                <a:moveTo>
                  <a:pt x="4444581" y="0"/>
                </a:moveTo>
                <a:lnTo>
                  <a:pt x="0" y="0"/>
                </a:lnTo>
                <a:lnTo>
                  <a:pt x="0" y="4647928"/>
                </a:lnTo>
                <a:lnTo>
                  <a:pt x="4444581" y="4647928"/>
                </a:lnTo>
                <a:lnTo>
                  <a:pt x="444458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02547">
            <a:off x="16961549" y="4114006"/>
            <a:ext cx="1608275" cy="1681856"/>
          </a:xfrm>
          <a:custGeom>
            <a:avLst/>
            <a:gdLst/>
            <a:ahLst/>
            <a:cxnLst/>
            <a:rect l="l" t="t" r="r" b="b"/>
            <a:pathLst>
              <a:path w="1608275" h="1681856">
                <a:moveTo>
                  <a:pt x="0" y="0"/>
                </a:moveTo>
                <a:lnTo>
                  <a:pt x="1608275" y="0"/>
                </a:lnTo>
                <a:lnTo>
                  <a:pt x="1608275" y="1681856"/>
                </a:lnTo>
                <a:lnTo>
                  <a:pt x="0" y="1681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9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69698" y="5841754"/>
            <a:ext cx="9991977" cy="9842098"/>
          </a:xfrm>
          <a:custGeom>
            <a:avLst/>
            <a:gdLst/>
            <a:ahLst/>
            <a:cxnLst/>
            <a:rect l="l" t="t" r="r" b="b"/>
            <a:pathLst>
              <a:path w="9991977" h="9842098">
                <a:moveTo>
                  <a:pt x="0" y="0"/>
                </a:moveTo>
                <a:lnTo>
                  <a:pt x="9991977" y="0"/>
                </a:lnTo>
                <a:lnTo>
                  <a:pt x="9991977" y="9842098"/>
                </a:lnTo>
                <a:lnTo>
                  <a:pt x="0" y="98420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39943" y="9081342"/>
            <a:ext cx="2739274" cy="1039568"/>
          </a:xfrm>
          <a:custGeom>
            <a:avLst/>
            <a:gdLst/>
            <a:ahLst/>
            <a:cxnLst/>
            <a:rect l="l" t="t" r="r" b="b"/>
            <a:pathLst>
              <a:path w="2739274" h="1039568">
                <a:moveTo>
                  <a:pt x="0" y="0"/>
                </a:moveTo>
                <a:lnTo>
                  <a:pt x="2739274" y="0"/>
                </a:lnTo>
                <a:lnTo>
                  <a:pt x="2739274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62910" r="-6142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37677" y="9258300"/>
            <a:ext cx="4375851" cy="848163"/>
          </a:xfrm>
          <a:custGeom>
            <a:avLst/>
            <a:gdLst/>
            <a:ahLst/>
            <a:cxnLst/>
            <a:rect l="l" t="t" r="r" b="b"/>
            <a:pathLst>
              <a:path w="4375851" h="848163">
                <a:moveTo>
                  <a:pt x="0" y="0"/>
                </a:moveTo>
                <a:lnTo>
                  <a:pt x="4375850" y="0"/>
                </a:lnTo>
                <a:lnTo>
                  <a:pt x="4375850" y="848163"/>
                </a:lnTo>
                <a:lnTo>
                  <a:pt x="0" y="84816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8590" r="-598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734045" y="9109917"/>
            <a:ext cx="861179" cy="1039568"/>
          </a:xfrm>
          <a:custGeom>
            <a:avLst/>
            <a:gdLst/>
            <a:ahLst/>
            <a:cxnLst/>
            <a:rect l="l" t="t" r="r" b="b"/>
            <a:pathLst>
              <a:path w="861179" h="1039568">
                <a:moveTo>
                  <a:pt x="0" y="0"/>
                </a:moveTo>
                <a:lnTo>
                  <a:pt x="861179" y="0"/>
                </a:lnTo>
                <a:lnTo>
                  <a:pt x="861179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r="-4334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5497905" y="8846987"/>
            <a:ext cx="2790095" cy="1273923"/>
            <a:chOff x="0" y="0"/>
            <a:chExt cx="3720127" cy="1698564"/>
          </a:xfrm>
        </p:grpSpPr>
        <p:sp>
          <p:nvSpPr>
            <p:cNvPr id="18" name="Freeform 18"/>
            <p:cNvSpPr/>
            <p:nvPr/>
          </p:nvSpPr>
          <p:spPr>
            <a:xfrm>
              <a:off x="585344" y="0"/>
              <a:ext cx="2549440" cy="1698564"/>
            </a:xfrm>
            <a:custGeom>
              <a:avLst/>
              <a:gdLst/>
              <a:ahLst/>
              <a:cxnLst/>
              <a:rect l="l" t="t" r="r" b="b"/>
              <a:pathLst>
                <a:path w="2549440" h="1698564">
                  <a:moveTo>
                    <a:pt x="0" y="0"/>
                  </a:moveTo>
                  <a:lnTo>
                    <a:pt x="2549439" y="0"/>
                  </a:lnTo>
                  <a:lnTo>
                    <a:pt x="2549439" y="1698564"/>
                  </a:lnTo>
                  <a:lnTo>
                    <a:pt x="0" y="1698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1043636"/>
              <a:ext cx="3720127" cy="521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en-US" sz="242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@bic.muet 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-213158" y="136650"/>
            <a:ext cx="8640094" cy="3618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62"/>
              </a:lnSpc>
              <a:spcBef>
                <a:spcPct val="0"/>
              </a:spcBef>
            </a:pPr>
            <a:r>
              <a:rPr lang="en-US" sz="5400" dirty="0">
                <a:solidFill>
                  <a:srgbClr val="004BA5"/>
                </a:solidFill>
                <a:latin typeface="Fredoka"/>
                <a:ea typeface="Fredoka"/>
                <a:cs typeface="Fredoka"/>
                <a:sym typeface="Fredoka"/>
              </a:rPr>
              <a:t>Business Process Flow</a:t>
            </a:r>
          </a:p>
          <a:p>
            <a:pPr algn="ctr">
              <a:lnSpc>
                <a:spcPts val="9762"/>
              </a:lnSpc>
              <a:spcBef>
                <a:spcPct val="0"/>
              </a:spcBef>
            </a:pPr>
            <a:endParaRPr lang="en-US" sz="5400" dirty="0">
              <a:solidFill>
                <a:srgbClr val="004BA5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>
              <a:lnSpc>
                <a:spcPts val="9762"/>
              </a:lnSpc>
              <a:spcBef>
                <a:spcPct val="0"/>
              </a:spcBef>
            </a:pPr>
            <a:endParaRPr lang="en-US" sz="5400" dirty="0">
              <a:solidFill>
                <a:srgbClr val="004BA5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6265" y="9692428"/>
            <a:ext cx="489920" cy="49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</a:pPr>
            <a:r>
              <a:rPr lang="en-US" sz="286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3F8B68-7767-422A-BB03-CDA02A32530F}"/>
              </a:ext>
            </a:extLst>
          </p:cNvPr>
          <p:cNvSpPr/>
          <p:nvPr/>
        </p:nvSpPr>
        <p:spPr>
          <a:xfrm>
            <a:off x="2017541" y="2210009"/>
            <a:ext cx="1345986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┌─────────┐    ┌─────────┐    ┌─────────┐    ┌─────────┐    ┌─────────┐</a:t>
            </a:r>
          </a:p>
          <a:p>
            <a:r>
              <a:rPr lang="en-US" sz="3200" b="1" dirty="0"/>
              <a:t>│ Connect    │→│ Diagnose │ →│ Simulate   │→│  Solve  │ → │ Support │</a:t>
            </a:r>
          </a:p>
          <a:p>
            <a:r>
              <a:rPr lang="en-US" sz="3200" b="1" dirty="0"/>
              <a:t>└─────────┘    └─────────┘    └─────────┘    └─────────┘    └─────────┘</a:t>
            </a:r>
          </a:p>
          <a:p>
            <a:r>
              <a:rPr lang="en-US" sz="3200" b="1" dirty="0"/>
              <a:t>                │                  │                                   │              │                       │</a:t>
            </a:r>
          </a:p>
          <a:p>
            <a:r>
              <a:rPr lang="en-US" sz="3200" b="1" dirty="0"/>
              <a:t>               ▼                ▼                                 ▼              ▼                   ▼</a:t>
            </a:r>
          </a:p>
          <a:p>
            <a:r>
              <a:rPr lang="en-US" sz="3200" b="1" dirty="0"/>
              <a:t>               Industry    Lab Audit       Software      Solution      Implementation</a:t>
            </a:r>
          </a:p>
          <a:p>
            <a:r>
              <a:rPr lang="en-US" sz="3200" b="1" dirty="0"/>
              <a:t>               Contact     &amp; Data            Modeling      Delivery      &amp; Training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F6AAE9-E3B1-4619-BA21-24806BFE46A7}"/>
              </a:ext>
            </a:extLst>
          </p:cNvPr>
          <p:cNvSpPr/>
          <p:nvPr/>
        </p:nvSpPr>
        <p:spPr>
          <a:xfrm>
            <a:off x="3263922" y="6199673"/>
            <a:ext cx="1267299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F1115"/>
                </a:solidFill>
                <a:latin typeface="quote-cjk-patch"/>
              </a:rPr>
              <a:t>Connect → Diagnose → Simulate → Solve → Support</a:t>
            </a:r>
          </a:p>
          <a:p>
            <a:r>
              <a:rPr lang="en-US" sz="4000" dirty="0"/>
              <a:t>Simple. Affordable. Effective.</a:t>
            </a:r>
            <a:br>
              <a:rPr lang="en-US" sz="7200" dirty="0"/>
            </a:br>
            <a:r>
              <a:rPr lang="en-US" sz="4000" i="1" dirty="0"/>
              <a:t>We take your problem and hand you back savings.</a:t>
            </a:r>
            <a:br>
              <a:rPr lang="en-US" sz="3600" dirty="0"/>
            </a:br>
            <a:endParaRPr lang="en-US" sz="360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19442" y="-741566"/>
            <a:ext cx="5746231" cy="5746231"/>
          </a:xfrm>
          <a:custGeom>
            <a:avLst/>
            <a:gdLst/>
            <a:ahLst/>
            <a:cxnLst/>
            <a:rect l="l" t="t" r="r" b="b"/>
            <a:pathLst>
              <a:path w="5746231" h="5746231">
                <a:moveTo>
                  <a:pt x="0" y="0"/>
                </a:moveTo>
                <a:lnTo>
                  <a:pt x="5746231" y="0"/>
                </a:lnTo>
                <a:lnTo>
                  <a:pt x="5746231" y="5746231"/>
                </a:lnTo>
                <a:lnTo>
                  <a:pt x="0" y="5746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019445">
            <a:off x="12619528" y="4589514"/>
            <a:ext cx="11701170" cy="5675068"/>
          </a:xfrm>
          <a:custGeom>
            <a:avLst/>
            <a:gdLst/>
            <a:ahLst/>
            <a:cxnLst/>
            <a:rect l="l" t="t" r="r" b="b"/>
            <a:pathLst>
              <a:path w="11701170" h="5675068">
                <a:moveTo>
                  <a:pt x="0" y="0"/>
                </a:moveTo>
                <a:lnTo>
                  <a:pt x="11701170" y="0"/>
                </a:lnTo>
                <a:lnTo>
                  <a:pt x="11701170" y="5675068"/>
                </a:lnTo>
                <a:lnTo>
                  <a:pt x="0" y="5675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2090443" y="3066903"/>
            <a:ext cx="7220097" cy="7220097"/>
          </a:xfrm>
          <a:custGeom>
            <a:avLst/>
            <a:gdLst/>
            <a:ahLst/>
            <a:cxnLst/>
            <a:rect l="l" t="t" r="r" b="b"/>
            <a:pathLst>
              <a:path w="7220097" h="7220097">
                <a:moveTo>
                  <a:pt x="0" y="0"/>
                </a:moveTo>
                <a:lnTo>
                  <a:pt x="7220096" y="0"/>
                </a:lnTo>
                <a:lnTo>
                  <a:pt x="7220096" y="7220097"/>
                </a:lnTo>
                <a:lnTo>
                  <a:pt x="0" y="722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260232" y="-741566"/>
            <a:ext cx="3869422" cy="4851940"/>
          </a:xfrm>
          <a:custGeom>
            <a:avLst/>
            <a:gdLst/>
            <a:ahLst/>
            <a:cxnLst/>
            <a:rect l="l" t="t" r="r" b="b"/>
            <a:pathLst>
              <a:path w="3869422" h="4851940">
                <a:moveTo>
                  <a:pt x="3869422" y="0"/>
                </a:moveTo>
                <a:lnTo>
                  <a:pt x="0" y="0"/>
                </a:lnTo>
                <a:lnTo>
                  <a:pt x="0" y="4851940"/>
                </a:lnTo>
                <a:lnTo>
                  <a:pt x="3869422" y="4851940"/>
                </a:lnTo>
                <a:lnTo>
                  <a:pt x="38694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-1966554" y="2832771"/>
            <a:ext cx="7403666" cy="9283594"/>
          </a:xfrm>
          <a:custGeom>
            <a:avLst/>
            <a:gdLst/>
            <a:ahLst/>
            <a:cxnLst/>
            <a:rect l="l" t="t" r="r" b="b"/>
            <a:pathLst>
              <a:path w="7403666" h="9283594">
                <a:moveTo>
                  <a:pt x="7403666" y="0"/>
                </a:moveTo>
                <a:lnTo>
                  <a:pt x="0" y="0"/>
                </a:lnTo>
                <a:lnTo>
                  <a:pt x="0" y="9283594"/>
                </a:lnTo>
                <a:lnTo>
                  <a:pt x="7403666" y="9283594"/>
                </a:lnTo>
                <a:lnTo>
                  <a:pt x="74036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326157" y="9258300"/>
            <a:ext cx="18471427" cy="4710951"/>
          </a:xfrm>
          <a:custGeom>
            <a:avLst/>
            <a:gdLst/>
            <a:ahLst/>
            <a:cxnLst/>
            <a:rect l="l" t="t" r="r" b="b"/>
            <a:pathLst>
              <a:path w="18471427" h="4710951">
                <a:moveTo>
                  <a:pt x="0" y="0"/>
                </a:moveTo>
                <a:lnTo>
                  <a:pt x="18471427" y="0"/>
                </a:lnTo>
                <a:lnTo>
                  <a:pt x="18471427" y="4710951"/>
                </a:lnTo>
                <a:lnTo>
                  <a:pt x="0" y="4710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583" t="-447080" r="-20695" b="-10791"/>
            </a:stretch>
          </a:blipFill>
        </p:spPr>
      </p:sp>
      <p:sp>
        <p:nvSpPr>
          <p:cNvPr id="8" name="Freeform 8"/>
          <p:cNvSpPr/>
          <p:nvPr/>
        </p:nvSpPr>
        <p:spPr>
          <a:xfrm rot="-2203497">
            <a:off x="11813050" y="-1075251"/>
            <a:ext cx="12949900" cy="6280702"/>
          </a:xfrm>
          <a:custGeom>
            <a:avLst/>
            <a:gdLst/>
            <a:ahLst/>
            <a:cxnLst/>
            <a:rect l="l" t="t" r="r" b="b"/>
            <a:pathLst>
              <a:path w="12949900" h="6280702">
                <a:moveTo>
                  <a:pt x="0" y="0"/>
                </a:moveTo>
                <a:lnTo>
                  <a:pt x="12949900" y="0"/>
                </a:lnTo>
                <a:lnTo>
                  <a:pt x="12949900" y="6280702"/>
                </a:lnTo>
                <a:lnTo>
                  <a:pt x="0" y="62807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019445">
            <a:off x="15009518" y="7682320"/>
            <a:ext cx="5056399" cy="2452353"/>
          </a:xfrm>
          <a:custGeom>
            <a:avLst/>
            <a:gdLst/>
            <a:ahLst/>
            <a:cxnLst/>
            <a:rect l="l" t="t" r="r" b="b"/>
            <a:pathLst>
              <a:path w="5056399" h="2452353">
                <a:moveTo>
                  <a:pt x="0" y="0"/>
                </a:moveTo>
                <a:lnTo>
                  <a:pt x="5056398" y="0"/>
                </a:lnTo>
                <a:lnTo>
                  <a:pt x="5056398" y="2452353"/>
                </a:lnTo>
                <a:lnTo>
                  <a:pt x="0" y="245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29653" y="5589395"/>
            <a:ext cx="307459" cy="307459"/>
          </a:xfrm>
          <a:custGeom>
            <a:avLst/>
            <a:gdLst/>
            <a:ahLst/>
            <a:cxnLst/>
            <a:rect l="l" t="t" r="r" b="b"/>
            <a:pathLst>
              <a:path w="307459" h="307459">
                <a:moveTo>
                  <a:pt x="0" y="0"/>
                </a:moveTo>
                <a:lnTo>
                  <a:pt x="307459" y="0"/>
                </a:lnTo>
                <a:lnTo>
                  <a:pt x="307459" y="307458"/>
                </a:lnTo>
                <a:lnTo>
                  <a:pt x="0" y="3074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65854" flipH="1">
            <a:off x="-861870" y="6413704"/>
            <a:ext cx="3291318" cy="3585425"/>
          </a:xfrm>
          <a:custGeom>
            <a:avLst/>
            <a:gdLst/>
            <a:ahLst/>
            <a:cxnLst/>
            <a:rect l="l" t="t" r="r" b="b"/>
            <a:pathLst>
              <a:path w="4444581" h="4647928">
                <a:moveTo>
                  <a:pt x="4444581" y="0"/>
                </a:moveTo>
                <a:lnTo>
                  <a:pt x="0" y="0"/>
                </a:lnTo>
                <a:lnTo>
                  <a:pt x="0" y="4647928"/>
                </a:lnTo>
                <a:lnTo>
                  <a:pt x="4444581" y="4647928"/>
                </a:lnTo>
                <a:lnTo>
                  <a:pt x="444458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02547">
            <a:off x="16961549" y="4114006"/>
            <a:ext cx="1608275" cy="1681856"/>
          </a:xfrm>
          <a:custGeom>
            <a:avLst/>
            <a:gdLst/>
            <a:ahLst/>
            <a:cxnLst/>
            <a:rect l="l" t="t" r="r" b="b"/>
            <a:pathLst>
              <a:path w="1608275" h="1681856">
                <a:moveTo>
                  <a:pt x="0" y="0"/>
                </a:moveTo>
                <a:lnTo>
                  <a:pt x="1608275" y="0"/>
                </a:lnTo>
                <a:lnTo>
                  <a:pt x="1608275" y="1681856"/>
                </a:lnTo>
                <a:lnTo>
                  <a:pt x="0" y="1681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9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69698" y="5841754"/>
            <a:ext cx="9991977" cy="9842098"/>
          </a:xfrm>
          <a:custGeom>
            <a:avLst/>
            <a:gdLst/>
            <a:ahLst/>
            <a:cxnLst/>
            <a:rect l="l" t="t" r="r" b="b"/>
            <a:pathLst>
              <a:path w="9991977" h="9842098">
                <a:moveTo>
                  <a:pt x="0" y="0"/>
                </a:moveTo>
                <a:lnTo>
                  <a:pt x="9991977" y="0"/>
                </a:lnTo>
                <a:lnTo>
                  <a:pt x="9991977" y="9842098"/>
                </a:lnTo>
                <a:lnTo>
                  <a:pt x="0" y="98420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39943" y="9081342"/>
            <a:ext cx="2739274" cy="1039568"/>
          </a:xfrm>
          <a:custGeom>
            <a:avLst/>
            <a:gdLst/>
            <a:ahLst/>
            <a:cxnLst/>
            <a:rect l="l" t="t" r="r" b="b"/>
            <a:pathLst>
              <a:path w="2739274" h="1039568">
                <a:moveTo>
                  <a:pt x="0" y="0"/>
                </a:moveTo>
                <a:lnTo>
                  <a:pt x="2739274" y="0"/>
                </a:lnTo>
                <a:lnTo>
                  <a:pt x="2739274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62910" r="-6142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37677" y="9258300"/>
            <a:ext cx="4375851" cy="848163"/>
          </a:xfrm>
          <a:custGeom>
            <a:avLst/>
            <a:gdLst/>
            <a:ahLst/>
            <a:cxnLst/>
            <a:rect l="l" t="t" r="r" b="b"/>
            <a:pathLst>
              <a:path w="4375851" h="848163">
                <a:moveTo>
                  <a:pt x="0" y="0"/>
                </a:moveTo>
                <a:lnTo>
                  <a:pt x="4375850" y="0"/>
                </a:lnTo>
                <a:lnTo>
                  <a:pt x="4375850" y="848163"/>
                </a:lnTo>
                <a:lnTo>
                  <a:pt x="0" y="84816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8590" r="-598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734045" y="9109917"/>
            <a:ext cx="861179" cy="1039568"/>
          </a:xfrm>
          <a:custGeom>
            <a:avLst/>
            <a:gdLst/>
            <a:ahLst/>
            <a:cxnLst/>
            <a:rect l="l" t="t" r="r" b="b"/>
            <a:pathLst>
              <a:path w="861179" h="1039568">
                <a:moveTo>
                  <a:pt x="0" y="0"/>
                </a:moveTo>
                <a:lnTo>
                  <a:pt x="861179" y="0"/>
                </a:lnTo>
                <a:lnTo>
                  <a:pt x="861179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r="-4334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5497905" y="8846987"/>
            <a:ext cx="2790095" cy="1273923"/>
            <a:chOff x="0" y="0"/>
            <a:chExt cx="3720127" cy="1698564"/>
          </a:xfrm>
        </p:grpSpPr>
        <p:sp>
          <p:nvSpPr>
            <p:cNvPr id="18" name="Freeform 18"/>
            <p:cNvSpPr/>
            <p:nvPr/>
          </p:nvSpPr>
          <p:spPr>
            <a:xfrm>
              <a:off x="585344" y="0"/>
              <a:ext cx="2549440" cy="1698564"/>
            </a:xfrm>
            <a:custGeom>
              <a:avLst/>
              <a:gdLst/>
              <a:ahLst/>
              <a:cxnLst/>
              <a:rect l="l" t="t" r="r" b="b"/>
              <a:pathLst>
                <a:path w="2549440" h="1698564">
                  <a:moveTo>
                    <a:pt x="0" y="0"/>
                  </a:moveTo>
                  <a:lnTo>
                    <a:pt x="2549439" y="0"/>
                  </a:lnTo>
                  <a:lnTo>
                    <a:pt x="2549439" y="1698564"/>
                  </a:lnTo>
                  <a:lnTo>
                    <a:pt x="0" y="1698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1043636"/>
              <a:ext cx="3720127" cy="521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en-US" sz="242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@bic.muet 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-1524000" y="-43682"/>
            <a:ext cx="16419822" cy="1158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62"/>
              </a:lnSpc>
              <a:spcBef>
                <a:spcPct val="0"/>
              </a:spcBef>
            </a:pPr>
            <a:r>
              <a:rPr lang="en-US" sz="6000" dirty="0">
                <a:solidFill>
                  <a:srgbClr val="004BA5"/>
                </a:solidFill>
                <a:latin typeface="Fredoka"/>
                <a:ea typeface="Fredoka"/>
                <a:cs typeface="Fredoka"/>
                <a:sym typeface="Fredoka"/>
              </a:rPr>
              <a:t>Customers and Marketing Strategy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6557" y="9692428"/>
            <a:ext cx="429336" cy="49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</a:pPr>
            <a:r>
              <a:rPr lang="en-US" sz="286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1BF5727-9436-4FB8-9E0A-52DE123EB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044467"/>
              </p:ext>
            </p:extLst>
          </p:nvPr>
        </p:nvGraphicFramePr>
        <p:xfrm>
          <a:off x="230091" y="1936037"/>
          <a:ext cx="7968611" cy="3536292"/>
        </p:xfrm>
        <a:graphic>
          <a:graphicData uri="http://schemas.openxmlformats.org/drawingml/2006/table">
            <a:tbl>
              <a:tblPr/>
              <a:tblGrid>
                <a:gridCol w="2169076">
                  <a:extLst>
                    <a:ext uri="{9D8B030D-6E8A-4147-A177-3AD203B41FA5}">
                      <a16:colId xmlns:a16="http://schemas.microsoft.com/office/drawing/2014/main" val="608924840"/>
                    </a:ext>
                  </a:extLst>
                </a:gridCol>
                <a:gridCol w="5799535">
                  <a:extLst>
                    <a:ext uri="{9D8B030D-6E8A-4147-A177-3AD203B41FA5}">
                      <a16:colId xmlns:a16="http://schemas.microsoft.com/office/drawing/2014/main" val="853372304"/>
                    </a:ext>
                  </a:extLst>
                </a:gridCol>
              </a:tblGrid>
              <a:tr h="425856">
                <a:tc>
                  <a:txBody>
                    <a:bodyPr/>
                    <a:lstStyle/>
                    <a:p>
                      <a:pPr algn="l"/>
                      <a:r>
                        <a:rPr lang="en-US" sz="2800" b="1">
                          <a:effectLst/>
                          <a:latin typeface="quote-cjk-patch"/>
                        </a:rPr>
                        <a:t>Sector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>
                          <a:effectLst/>
                          <a:latin typeface="quote-cjk-patch"/>
                        </a:rPr>
                        <a:t>Need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62252"/>
                  </a:ext>
                </a:extLst>
              </a:tr>
              <a:tr h="1021692">
                <a:tc>
                  <a:txBody>
                    <a:bodyPr/>
                    <a:lstStyle/>
                    <a:p>
                      <a:r>
                        <a:rPr lang="en-US" sz="2800" b="1" dirty="0">
                          <a:effectLst/>
                          <a:latin typeface="quote-cjk-patch"/>
                        </a:rPr>
                        <a:t>🛢️ Oil &amp; Gas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effectLst/>
                          <a:latin typeface="quote-cjk-patch"/>
                        </a:rPr>
                        <a:t>Process optimization, energy efficiency, safety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432889"/>
                  </a:ext>
                </a:extLst>
              </a:tr>
              <a:tr h="916117">
                <a:tc>
                  <a:txBody>
                    <a:bodyPr/>
                    <a:lstStyle/>
                    <a:p>
                      <a:r>
                        <a:rPr lang="en-US" sz="2800" b="1" dirty="0">
                          <a:effectLst/>
                          <a:latin typeface="quote-cjk-patch"/>
                        </a:rPr>
                        <a:t>🧪Chemicals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effectLst/>
                          <a:latin typeface="quote-cjk-patch"/>
                        </a:rPr>
                        <a:t>Waste minimization, regulatory compliance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479341"/>
                  </a:ext>
                </a:extLst>
              </a:tr>
              <a:tr h="741956">
                <a:tc>
                  <a:txBody>
                    <a:bodyPr/>
                    <a:lstStyle/>
                    <a:p>
                      <a:r>
                        <a:rPr lang="en-US" sz="2800" b="1" dirty="0">
                          <a:effectLst/>
                          <a:latin typeface="quote-cjk-patch"/>
                        </a:rPr>
                        <a:t>👕 Textile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effectLst/>
                          <a:latin typeface="quote-cjk-patch"/>
                        </a:rPr>
                        <a:t>Effluent treatment, water management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8355883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5BEB996A-4D6B-417F-B087-27B1BF5B9809}"/>
              </a:ext>
            </a:extLst>
          </p:cNvPr>
          <p:cNvSpPr/>
          <p:nvPr/>
        </p:nvSpPr>
        <p:spPr>
          <a:xfrm>
            <a:off x="627533" y="1186819"/>
            <a:ext cx="9144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rgbClr val="0F1115"/>
                </a:solidFill>
                <a:latin typeface="quote-cjk-patch"/>
              </a:rPr>
              <a:t>Target Customers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600" dirty="0">
              <a:latin typeface="Arial" panose="020B0604020202020204" pitchFamily="34" charset="0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36F0243-9E87-445C-939B-6B846CA04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954134"/>
              </p:ext>
            </p:extLst>
          </p:nvPr>
        </p:nvGraphicFramePr>
        <p:xfrm>
          <a:off x="8322686" y="1663284"/>
          <a:ext cx="7907914" cy="3439017"/>
        </p:xfrm>
        <a:graphic>
          <a:graphicData uri="http://schemas.openxmlformats.org/drawingml/2006/table">
            <a:tbl>
              <a:tblPr/>
              <a:tblGrid>
                <a:gridCol w="3953957">
                  <a:extLst>
                    <a:ext uri="{9D8B030D-6E8A-4147-A177-3AD203B41FA5}">
                      <a16:colId xmlns:a16="http://schemas.microsoft.com/office/drawing/2014/main" val="4001388255"/>
                    </a:ext>
                  </a:extLst>
                </a:gridCol>
                <a:gridCol w="3953957">
                  <a:extLst>
                    <a:ext uri="{9D8B030D-6E8A-4147-A177-3AD203B41FA5}">
                      <a16:colId xmlns:a16="http://schemas.microsoft.com/office/drawing/2014/main" val="1027307753"/>
                    </a:ext>
                  </a:extLst>
                </a:gridCol>
              </a:tblGrid>
              <a:tr h="725184">
                <a:tc>
                  <a:txBody>
                    <a:bodyPr/>
                    <a:lstStyle/>
                    <a:p>
                      <a:pPr algn="l"/>
                      <a:r>
                        <a:rPr lang="en-US" sz="2800" b="1">
                          <a:effectLst/>
                          <a:latin typeface="quote-cjk-patch"/>
                        </a:rPr>
                        <a:t>Market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800" b="1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94107"/>
                  </a:ext>
                </a:extLst>
              </a:tr>
              <a:tr h="725184">
                <a:tc>
                  <a:txBody>
                    <a:bodyPr/>
                    <a:lstStyle/>
                    <a:p>
                      <a:r>
                        <a:rPr lang="en-US" sz="2800" b="1">
                          <a:effectLst/>
                          <a:latin typeface="quote-cjk-patch"/>
                        </a:rPr>
                        <a:t>🌍 TAM (Pakistan)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800" b="1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070759"/>
                  </a:ext>
                </a:extLst>
              </a:tr>
              <a:tr h="725184">
                <a:tc>
                  <a:txBody>
                    <a:bodyPr/>
                    <a:lstStyle/>
                    <a:p>
                      <a:r>
                        <a:rPr lang="en-US" sz="2800" b="1" dirty="0">
                          <a:effectLst/>
                          <a:latin typeface="quote-cjk-patch"/>
                        </a:rPr>
                        <a:t>🎯 SAM (Within Sindh)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800" b="1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1461667"/>
                  </a:ext>
                </a:extLst>
              </a:tr>
              <a:tr h="1263465">
                <a:tc>
                  <a:txBody>
                    <a:bodyPr/>
                    <a:lstStyle/>
                    <a:p>
                      <a:r>
                        <a:rPr lang="en-US" sz="2800" b="1">
                          <a:effectLst/>
                          <a:latin typeface="quote-cjk-patch"/>
                        </a:rPr>
                        <a:t>🚀 SOM (Year 1 - 10 factories)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800" b="1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871222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D85467B9-2650-493A-876C-2FC9BA3CEED9}"/>
              </a:ext>
            </a:extLst>
          </p:cNvPr>
          <p:cNvSpPr txBox="1"/>
          <p:nvPr/>
        </p:nvSpPr>
        <p:spPr>
          <a:xfrm>
            <a:off x="8322686" y="1114969"/>
            <a:ext cx="3659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Market Size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DA847D-9233-410F-A6DF-73047510F782}"/>
              </a:ext>
            </a:extLst>
          </p:cNvPr>
          <p:cNvSpPr/>
          <p:nvPr/>
        </p:nvSpPr>
        <p:spPr>
          <a:xfrm>
            <a:off x="3333010" y="5622370"/>
            <a:ext cx="40112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u="sng" dirty="0">
                <a:solidFill>
                  <a:srgbClr val="0F1115"/>
                </a:solidFill>
                <a:latin typeface="quote-cjk-patch"/>
              </a:rPr>
              <a:t>Marketing Channels</a:t>
            </a:r>
            <a:endParaRPr lang="en-US" sz="3600" b="1" u="sng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609B2F3-D94C-4238-88F3-ED4C1EA3194F}"/>
              </a:ext>
            </a:extLst>
          </p:cNvPr>
          <p:cNvSpPr/>
          <p:nvPr/>
        </p:nvSpPr>
        <p:spPr>
          <a:xfrm>
            <a:off x="3234372" y="6140035"/>
            <a:ext cx="239299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F1115"/>
                </a:solidFill>
                <a:latin typeface="quote-cjk-patch"/>
              </a:rPr>
              <a:t> Direct Visits</a:t>
            </a:r>
            <a:endParaRPr lang="en-US" sz="3200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0F7C2D-891A-4B56-8C1F-4F4F91D088F2}"/>
              </a:ext>
            </a:extLst>
          </p:cNvPr>
          <p:cNvSpPr/>
          <p:nvPr/>
        </p:nvSpPr>
        <p:spPr>
          <a:xfrm>
            <a:off x="3304199" y="6655555"/>
            <a:ext cx="32105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F1115"/>
                </a:solidFill>
                <a:latin typeface="quote-cjk-patch"/>
              </a:rPr>
              <a:t>MUET Workshops</a:t>
            </a:r>
            <a:endParaRPr lang="en-US" sz="32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04C48CD-32FA-4BD3-B9F8-1D17D889BC08}"/>
              </a:ext>
            </a:extLst>
          </p:cNvPr>
          <p:cNvSpPr/>
          <p:nvPr/>
        </p:nvSpPr>
        <p:spPr>
          <a:xfrm>
            <a:off x="3304199" y="7142995"/>
            <a:ext cx="33407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F1115"/>
                </a:solidFill>
                <a:latin typeface="quote-cjk-patch"/>
              </a:rPr>
              <a:t>Trade Associations</a:t>
            </a:r>
            <a:endParaRPr lang="en-US" sz="3200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973D1B4-EC7B-4919-A495-CDD2C5C7DE0B}"/>
              </a:ext>
            </a:extLst>
          </p:cNvPr>
          <p:cNvSpPr/>
          <p:nvPr/>
        </p:nvSpPr>
        <p:spPr>
          <a:xfrm>
            <a:off x="3341995" y="7666703"/>
            <a:ext cx="55282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F1115"/>
                </a:solidFill>
                <a:latin typeface="quote-cjk-patch"/>
              </a:rPr>
              <a:t>LinkedIn and electronic media</a:t>
            </a:r>
            <a:endParaRPr lang="en-US" sz="3200" b="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F0D84D-5B37-4A7A-8836-BF2452732E5F}"/>
              </a:ext>
            </a:extLst>
          </p:cNvPr>
          <p:cNvSpPr/>
          <p:nvPr/>
        </p:nvSpPr>
        <p:spPr>
          <a:xfrm>
            <a:off x="3304678" y="8140913"/>
            <a:ext cx="16918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F1115"/>
                </a:solidFill>
                <a:latin typeface="quote-cjk-patch"/>
              </a:rPr>
              <a:t>Referrals</a:t>
            </a:r>
            <a:endParaRPr lang="en-US" sz="3200" b="1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A70379-9E67-401E-896D-4D9D6C4015A7}"/>
              </a:ext>
            </a:extLst>
          </p:cNvPr>
          <p:cNvSpPr/>
          <p:nvPr/>
        </p:nvSpPr>
        <p:spPr>
          <a:xfrm>
            <a:off x="9029285" y="6026533"/>
            <a:ext cx="884474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F1115"/>
                </a:solidFill>
                <a:latin typeface="quote-cjk-patch"/>
              </a:rPr>
              <a:t>Our Promise</a:t>
            </a:r>
          </a:p>
          <a:p>
            <a:r>
              <a:rPr lang="en-US" sz="3200" i="1" dirty="0">
                <a:solidFill>
                  <a:srgbClr val="0F1115"/>
                </a:solidFill>
                <a:latin typeface="quote-cjk-patch"/>
              </a:rPr>
              <a:t>You don't need an expensive consultant. You need fresh eyes, guided by experience, at a price you can actually afford.</a:t>
            </a:r>
            <a:endParaRPr lang="en-US" sz="3200" dirty="0">
              <a:solidFill>
                <a:srgbClr val="0F1115"/>
              </a:solidFill>
              <a:latin typeface="quote-cjk-patch"/>
            </a:endParaRPr>
          </a:p>
          <a:p>
            <a:br>
              <a:rPr lang="en-US" sz="3200" dirty="0"/>
            </a:b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19442" y="-741566"/>
            <a:ext cx="5746231" cy="5746231"/>
          </a:xfrm>
          <a:custGeom>
            <a:avLst/>
            <a:gdLst/>
            <a:ahLst/>
            <a:cxnLst/>
            <a:rect l="l" t="t" r="r" b="b"/>
            <a:pathLst>
              <a:path w="5746231" h="5746231">
                <a:moveTo>
                  <a:pt x="0" y="0"/>
                </a:moveTo>
                <a:lnTo>
                  <a:pt x="5746231" y="0"/>
                </a:lnTo>
                <a:lnTo>
                  <a:pt x="5746231" y="5746231"/>
                </a:lnTo>
                <a:lnTo>
                  <a:pt x="0" y="5746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019445">
            <a:off x="12619528" y="4589514"/>
            <a:ext cx="11701170" cy="5675068"/>
          </a:xfrm>
          <a:custGeom>
            <a:avLst/>
            <a:gdLst/>
            <a:ahLst/>
            <a:cxnLst/>
            <a:rect l="l" t="t" r="r" b="b"/>
            <a:pathLst>
              <a:path w="11701170" h="5675068">
                <a:moveTo>
                  <a:pt x="0" y="0"/>
                </a:moveTo>
                <a:lnTo>
                  <a:pt x="11701170" y="0"/>
                </a:lnTo>
                <a:lnTo>
                  <a:pt x="11701170" y="5675068"/>
                </a:lnTo>
                <a:lnTo>
                  <a:pt x="0" y="5675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2090443" y="3066903"/>
            <a:ext cx="7220097" cy="7220097"/>
          </a:xfrm>
          <a:custGeom>
            <a:avLst/>
            <a:gdLst/>
            <a:ahLst/>
            <a:cxnLst/>
            <a:rect l="l" t="t" r="r" b="b"/>
            <a:pathLst>
              <a:path w="7220097" h="7220097">
                <a:moveTo>
                  <a:pt x="0" y="0"/>
                </a:moveTo>
                <a:lnTo>
                  <a:pt x="7220096" y="0"/>
                </a:lnTo>
                <a:lnTo>
                  <a:pt x="7220096" y="7220097"/>
                </a:lnTo>
                <a:lnTo>
                  <a:pt x="0" y="722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260232" y="-741566"/>
            <a:ext cx="3869422" cy="4851940"/>
          </a:xfrm>
          <a:custGeom>
            <a:avLst/>
            <a:gdLst/>
            <a:ahLst/>
            <a:cxnLst/>
            <a:rect l="l" t="t" r="r" b="b"/>
            <a:pathLst>
              <a:path w="3869422" h="4851940">
                <a:moveTo>
                  <a:pt x="3869422" y="0"/>
                </a:moveTo>
                <a:lnTo>
                  <a:pt x="0" y="0"/>
                </a:lnTo>
                <a:lnTo>
                  <a:pt x="0" y="4851940"/>
                </a:lnTo>
                <a:lnTo>
                  <a:pt x="3869422" y="4851940"/>
                </a:lnTo>
                <a:lnTo>
                  <a:pt x="38694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-1966554" y="2832771"/>
            <a:ext cx="7403666" cy="9283594"/>
          </a:xfrm>
          <a:custGeom>
            <a:avLst/>
            <a:gdLst/>
            <a:ahLst/>
            <a:cxnLst/>
            <a:rect l="l" t="t" r="r" b="b"/>
            <a:pathLst>
              <a:path w="7403666" h="9283594">
                <a:moveTo>
                  <a:pt x="7403666" y="0"/>
                </a:moveTo>
                <a:lnTo>
                  <a:pt x="0" y="0"/>
                </a:lnTo>
                <a:lnTo>
                  <a:pt x="0" y="9283594"/>
                </a:lnTo>
                <a:lnTo>
                  <a:pt x="7403666" y="9283594"/>
                </a:lnTo>
                <a:lnTo>
                  <a:pt x="74036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326157" y="9258300"/>
            <a:ext cx="18471427" cy="4710951"/>
          </a:xfrm>
          <a:custGeom>
            <a:avLst/>
            <a:gdLst/>
            <a:ahLst/>
            <a:cxnLst/>
            <a:rect l="l" t="t" r="r" b="b"/>
            <a:pathLst>
              <a:path w="18471427" h="4710951">
                <a:moveTo>
                  <a:pt x="0" y="0"/>
                </a:moveTo>
                <a:lnTo>
                  <a:pt x="18471427" y="0"/>
                </a:lnTo>
                <a:lnTo>
                  <a:pt x="18471427" y="4710951"/>
                </a:lnTo>
                <a:lnTo>
                  <a:pt x="0" y="4710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583" t="-447080" r="-20695" b="-10791"/>
            </a:stretch>
          </a:blipFill>
        </p:spPr>
      </p:sp>
      <p:sp>
        <p:nvSpPr>
          <p:cNvPr id="8" name="Freeform 8"/>
          <p:cNvSpPr/>
          <p:nvPr/>
        </p:nvSpPr>
        <p:spPr>
          <a:xfrm rot="-2203497">
            <a:off x="11813050" y="-1075251"/>
            <a:ext cx="12949900" cy="6280702"/>
          </a:xfrm>
          <a:custGeom>
            <a:avLst/>
            <a:gdLst/>
            <a:ahLst/>
            <a:cxnLst/>
            <a:rect l="l" t="t" r="r" b="b"/>
            <a:pathLst>
              <a:path w="12949900" h="6280702">
                <a:moveTo>
                  <a:pt x="0" y="0"/>
                </a:moveTo>
                <a:lnTo>
                  <a:pt x="12949900" y="0"/>
                </a:lnTo>
                <a:lnTo>
                  <a:pt x="12949900" y="6280702"/>
                </a:lnTo>
                <a:lnTo>
                  <a:pt x="0" y="62807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019445">
            <a:off x="15009518" y="7682320"/>
            <a:ext cx="5056399" cy="2452353"/>
          </a:xfrm>
          <a:custGeom>
            <a:avLst/>
            <a:gdLst/>
            <a:ahLst/>
            <a:cxnLst/>
            <a:rect l="l" t="t" r="r" b="b"/>
            <a:pathLst>
              <a:path w="5056399" h="2452353">
                <a:moveTo>
                  <a:pt x="0" y="0"/>
                </a:moveTo>
                <a:lnTo>
                  <a:pt x="5056398" y="0"/>
                </a:lnTo>
                <a:lnTo>
                  <a:pt x="5056398" y="2452353"/>
                </a:lnTo>
                <a:lnTo>
                  <a:pt x="0" y="245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29653" y="5589395"/>
            <a:ext cx="307459" cy="307459"/>
          </a:xfrm>
          <a:custGeom>
            <a:avLst/>
            <a:gdLst/>
            <a:ahLst/>
            <a:cxnLst/>
            <a:rect l="l" t="t" r="r" b="b"/>
            <a:pathLst>
              <a:path w="307459" h="307459">
                <a:moveTo>
                  <a:pt x="0" y="0"/>
                </a:moveTo>
                <a:lnTo>
                  <a:pt x="307459" y="0"/>
                </a:lnTo>
                <a:lnTo>
                  <a:pt x="307459" y="307458"/>
                </a:lnTo>
                <a:lnTo>
                  <a:pt x="0" y="3074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65854" flipH="1">
            <a:off x="-838304" y="7022872"/>
            <a:ext cx="2634555" cy="3000753"/>
          </a:xfrm>
          <a:custGeom>
            <a:avLst/>
            <a:gdLst/>
            <a:ahLst/>
            <a:cxnLst/>
            <a:rect l="l" t="t" r="r" b="b"/>
            <a:pathLst>
              <a:path w="4444581" h="4647928">
                <a:moveTo>
                  <a:pt x="4444581" y="0"/>
                </a:moveTo>
                <a:lnTo>
                  <a:pt x="0" y="0"/>
                </a:lnTo>
                <a:lnTo>
                  <a:pt x="0" y="4647928"/>
                </a:lnTo>
                <a:lnTo>
                  <a:pt x="4444581" y="4647928"/>
                </a:lnTo>
                <a:lnTo>
                  <a:pt x="444458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02547">
            <a:off x="16961549" y="4114006"/>
            <a:ext cx="1608275" cy="1681856"/>
          </a:xfrm>
          <a:custGeom>
            <a:avLst/>
            <a:gdLst/>
            <a:ahLst/>
            <a:cxnLst/>
            <a:rect l="l" t="t" r="r" b="b"/>
            <a:pathLst>
              <a:path w="1608275" h="1681856">
                <a:moveTo>
                  <a:pt x="0" y="0"/>
                </a:moveTo>
                <a:lnTo>
                  <a:pt x="1608275" y="0"/>
                </a:lnTo>
                <a:lnTo>
                  <a:pt x="1608275" y="1681856"/>
                </a:lnTo>
                <a:lnTo>
                  <a:pt x="0" y="1681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9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69698" y="5841754"/>
            <a:ext cx="9991977" cy="9842098"/>
          </a:xfrm>
          <a:custGeom>
            <a:avLst/>
            <a:gdLst/>
            <a:ahLst/>
            <a:cxnLst/>
            <a:rect l="l" t="t" r="r" b="b"/>
            <a:pathLst>
              <a:path w="9991977" h="9842098">
                <a:moveTo>
                  <a:pt x="0" y="0"/>
                </a:moveTo>
                <a:lnTo>
                  <a:pt x="9991977" y="0"/>
                </a:lnTo>
                <a:lnTo>
                  <a:pt x="9991977" y="9842098"/>
                </a:lnTo>
                <a:lnTo>
                  <a:pt x="0" y="98420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39943" y="9081342"/>
            <a:ext cx="2739274" cy="1039568"/>
          </a:xfrm>
          <a:custGeom>
            <a:avLst/>
            <a:gdLst/>
            <a:ahLst/>
            <a:cxnLst/>
            <a:rect l="l" t="t" r="r" b="b"/>
            <a:pathLst>
              <a:path w="2739274" h="1039568">
                <a:moveTo>
                  <a:pt x="0" y="0"/>
                </a:moveTo>
                <a:lnTo>
                  <a:pt x="2739274" y="0"/>
                </a:lnTo>
                <a:lnTo>
                  <a:pt x="2739274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62910" r="-6142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37677" y="9258300"/>
            <a:ext cx="4375851" cy="848163"/>
          </a:xfrm>
          <a:custGeom>
            <a:avLst/>
            <a:gdLst/>
            <a:ahLst/>
            <a:cxnLst/>
            <a:rect l="l" t="t" r="r" b="b"/>
            <a:pathLst>
              <a:path w="4375851" h="848163">
                <a:moveTo>
                  <a:pt x="0" y="0"/>
                </a:moveTo>
                <a:lnTo>
                  <a:pt x="4375850" y="0"/>
                </a:lnTo>
                <a:lnTo>
                  <a:pt x="4375850" y="848163"/>
                </a:lnTo>
                <a:lnTo>
                  <a:pt x="0" y="84816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8590" r="-598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734045" y="9109917"/>
            <a:ext cx="861179" cy="1039568"/>
          </a:xfrm>
          <a:custGeom>
            <a:avLst/>
            <a:gdLst/>
            <a:ahLst/>
            <a:cxnLst/>
            <a:rect l="l" t="t" r="r" b="b"/>
            <a:pathLst>
              <a:path w="861179" h="1039568">
                <a:moveTo>
                  <a:pt x="0" y="0"/>
                </a:moveTo>
                <a:lnTo>
                  <a:pt x="861179" y="0"/>
                </a:lnTo>
                <a:lnTo>
                  <a:pt x="861179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r="-4334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5497905" y="8846987"/>
            <a:ext cx="2790095" cy="1273923"/>
            <a:chOff x="0" y="0"/>
            <a:chExt cx="3720127" cy="1698564"/>
          </a:xfrm>
        </p:grpSpPr>
        <p:sp>
          <p:nvSpPr>
            <p:cNvPr id="18" name="Freeform 18"/>
            <p:cNvSpPr/>
            <p:nvPr/>
          </p:nvSpPr>
          <p:spPr>
            <a:xfrm>
              <a:off x="585344" y="0"/>
              <a:ext cx="2549440" cy="1698564"/>
            </a:xfrm>
            <a:custGeom>
              <a:avLst/>
              <a:gdLst/>
              <a:ahLst/>
              <a:cxnLst/>
              <a:rect l="l" t="t" r="r" b="b"/>
              <a:pathLst>
                <a:path w="2549440" h="1698564">
                  <a:moveTo>
                    <a:pt x="0" y="0"/>
                  </a:moveTo>
                  <a:lnTo>
                    <a:pt x="2549439" y="0"/>
                  </a:lnTo>
                  <a:lnTo>
                    <a:pt x="2549439" y="1698564"/>
                  </a:lnTo>
                  <a:lnTo>
                    <a:pt x="0" y="1698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1043636"/>
              <a:ext cx="3720127" cy="521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en-US" sz="242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@bic.muet 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-838200" y="-38073"/>
            <a:ext cx="8378329" cy="115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62"/>
              </a:lnSpc>
              <a:spcBef>
                <a:spcPct val="0"/>
              </a:spcBef>
            </a:pPr>
            <a:r>
              <a:rPr lang="en-US" sz="6000" dirty="0">
                <a:solidFill>
                  <a:srgbClr val="004BA5"/>
                </a:solidFill>
                <a:latin typeface="Fredoka"/>
                <a:ea typeface="Fredoka"/>
                <a:cs typeface="Fredoka"/>
                <a:sym typeface="Fredoka"/>
              </a:rPr>
              <a:t>Prototype / MVP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2854" y="9692428"/>
            <a:ext cx="476742" cy="49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</a:pPr>
            <a:r>
              <a:rPr lang="en-US" sz="286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3631" y="1044498"/>
            <a:ext cx="5938467" cy="555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200" b="1" dirty="0"/>
              <a:t>We've already proven it works.</a:t>
            </a:r>
            <a:endParaRPr lang="en-US" sz="4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B1AA119-DE2E-48F0-9C78-B5DC76359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926325"/>
              </p:ext>
            </p:extLst>
          </p:nvPr>
        </p:nvGraphicFramePr>
        <p:xfrm>
          <a:off x="518185" y="2621856"/>
          <a:ext cx="7320134" cy="4052193"/>
        </p:xfrm>
        <a:graphic>
          <a:graphicData uri="http://schemas.openxmlformats.org/drawingml/2006/table">
            <a:tbl>
              <a:tblPr/>
              <a:tblGrid>
                <a:gridCol w="2027159">
                  <a:extLst>
                    <a:ext uri="{9D8B030D-6E8A-4147-A177-3AD203B41FA5}">
                      <a16:colId xmlns:a16="http://schemas.microsoft.com/office/drawing/2014/main" val="3343083869"/>
                    </a:ext>
                  </a:extLst>
                </a:gridCol>
                <a:gridCol w="5292975">
                  <a:extLst>
                    <a:ext uri="{9D8B030D-6E8A-4147-A177-3AD203B41FA5}">
                      <a16:colId xmlns:a16="http://schemas.microsoft.com/office/drawing/2014/main" val="4165805156"/>
                    </a:ext>
                  </a:extLst>
                </a:gridCol>
              </a:tblGrid>
              <a:tr h="624901"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Element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Details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0849527"/>
                  </a:ext>
                </a:extLst>
              </a:tr>
              <a:tr h="1088745">
                <a:tc>
                  <a:txBody>
                    <a:bodyPr/>
                    <a:lstStyle/>
                    <a:p>
                      <a:r>
                        <a:rPr lang="en-US" sz="3200" b="1" dirty="0">
                          <a:effectLst/>
                          <a:latin typeface="quote-cjk-patch"/>
                        </a:rPr>
                        <a:t>Project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  <a:latin typeface="quote-cjk-patch"/>
                        </a:rPr>
                        <a:t>Ethyl Acetate Manufacturing Process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7301013"/>
                  </a:ext>
                </a:extLst>
              </a:tr>
              <a:tr h="624901">
                <a:tc>
                  <a:txBody>
                    <a:bodyPr/>
                    <a:lstStyle/>
                    <a:p>
                      <a:r>
                        <a:rPr lang="en-US" sz="3200" b="1" dirty="0">
                          <a:effectLst/>
                          <a:latin typeface="quote-cjk-patch"/>
                        </a:rPr>
                        <a:t>Tool Used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quote-cjk-patch"/>
                        </a:rPr>
                        <a:t>Aspen </a:t>
                      </a:r>
                      <a:r>
                        <a:rPr lang="en-US" sz="2400" b="1" dirty="0" err="1">
                          <a:effectLst/>
                          <a:latin typeface="quote-cjk-patch"/>
                        </a:rPr>
                        <a:t>Hysys</a:t>
                      </a:r>
                      <a:r>
                        <a:rPr lang="en-US" sz="2400" b="1" dirty="0">
                          <a:effectLst/>
                          <a:latin typeface="quote-cjk-patch"/>
                        </a:rPr>
                        <a:t> Simulation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876700"/>
                  </a:ext>
                </a:extLst>
              </a:tr>
              <a:tr h="1088745">
                <a:tc>
                  <a:txBody>
                    <a:bodyPr/>
                    <a:lstStyle/>
                    <a:p>
                      <a:r>
                        <a:rPr lang="en-US" sz="3600" b="1" dirty="0">
                          <a:effectLst/>
                          <a:latin typeface="quote-cjk-patch"/>
                        </a:rPr>
                        <a:t>Goal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  <a:latin typeface="quote-cjk-patch"/>
                        </a:rPr>
                        <a:t>Identify inefficiencies &amp; optimize production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578082"/>
                  </a:ext>
                </a:extLst>
              </a:tr>
              <a:tr h="624901">
                <a:tc>
                  <a:txBody>
                    <a:bodyPr/>
                    <a:lstStyle/>
                    <a:p>
                      <a:r>
                        <a:rPr lang="en-US" sz="3200" b="1" dirty="0">
                          <a:effectLst/>
                          <a:latin typeface="quote-cjk-patch"/>
                        </a:rPr>
                        <a:t>Status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quote-cjk-patch"/>
                        </a:rPr>
                        <a:t>✅ Completed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39585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724D5CE0-FF0C-4DFC-BF30-8E34C5E8D409}"/>
              </a:ext>
            </a:extLst>
          </p:cNvPr>
          <p:cNvSpPr txBox="1"/>
          <p:nvPr/>
        </p:nvSpPr>
        <p:spPr>
          <a:xfrm>
            <a:off x="478972" y="1923210"/>
            <a:ext cx="5713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Our MVP  Ethyl Acetate plant Study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6374764-A9FE-4EC8-8699-15DD1039E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71002"/>
              </p:ext>
            </p:extLst>
          </p:nvPr>
        </p:nvGraphicFramePr>
        <p:xfrm>
          <a:off x="8416209" y="2214601"/>
          <a:ext cx="7725982" cy="3495040"/>
        </p:xfrm>
        <a:graphic>
          <a:graphicData uri="http://schemas.openxmlformats.org/drawingml/2006/table">
            <a:tbl>
              <a:tblPr/>
              <a:tblGrid>
                <a:gridCol w="2575327">
                  <a:extLst>
                    <a:ext uri="{9D8B030D-6E8A-4147-A177-3AD203B41FA5}">
                      <a16:colId xmlns:a16="http://schemas.microsoft.com/office/drawing/2014/main" val="2747278415"/>
                    </a:ext>
                  </a:extLst>
                </a:gridCol>
                <a:gridCol w="2174135">
                  <a:extLst>
                    <a:ext uri="{9D8B030D-6E8A-4147-A177-3AD203B41FA5}">
                      <a16:colId xmlns:a16="http://schemas.microsoft.com/office/drawing/2014/main" val="2500508989"/>
                    </a:ext>
                  </a:extLst>
                </a:gridCol>
                <a:gridCol w="2976520">
                  <a:extLst>
                    <a:ext uri="{9D8B030D-6E8A-4147-A177-3AD203B41FA5}">
                      <a16:colId xmlns:a16="http://schemas.microsoft.com/office/drawing/2014/main" val="1921981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800" b="1">
                          <a:effectLst/>
                          <a:latin typeface="quote-cjk-patch"/>
                        </a:rPr>
                        <a:t>Parameter</a:t>
                      </a:r>
                      <a:endParaRPr lang="en-US" sz="28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>
                          <a:effectLst/>
                          <a:latin typeface="quote-cjk-patch"/>
                        </a:rPr>
                        <a:t>Before</a:t>
                      </a:r>
                      <a:endParaRPr lang="en-US" sz="28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effectLst/>
                          <a:latin typeface="quote-cjk-patch"/>
                        </a:rPr>
                        <a:t>After Optimization</a:t>
                      </a:r>
                      <a:endParaRPr lang="en-US" sz="2800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42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0">
                          <a:effectLst/>
                          <a:latin typeface="quote-cjk-patch"/>
                        </a:rPr>
                        <a:t>Energy Consumption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>
                          <a:effectLst/>
                          <a:latin typeface="quote-cjk-patch"/>
                        </a:rPr>
                        <a:t>High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>
                          <a:effectLst/>
                          <a:latin typeface="quote-cjk-patch"/>
                        </a:rPr>
                        <a:t>🔻 </a:t>
                      </a:r>
                      <a:r>
                        <a:rPr lang="en-US" sz="2800" b="1">
                          <a:effectLst/>
                          <a:latin typeface="quote-cjk-patch"/>
                        </a:rPr>
                        <a:t>15% reduction</a:t>
                      </a:r>
                      <a:endParaRPr lang="en-US" sz="2800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715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0" dirty="0">
                          <a:effectLst/>
                          <a:latin typeface="quote-cjk-patch"/>
                        </a:rPr>
                        <a:t>Raw Material Waste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effectLst/>
                          <a:latin typeface="quote-cjk-patch"/>
                        </a:rPr>
                        <a:t>Significant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>
                          <a:effectLst/>
                          <a:latin typeface="quote-cjk-patch"/>
                        </a:rPr>
                        <a:t>🔻 </a:t>
                      </a:r>
                      <a:r>
                        <a:rPr lang="en-US" sz="2800" b="1">
                          <a:effectLst/>
                          <a:latin typeface="quote-cjk-patch"/>
                        </a:rPr>
                        <a:t>10% recovered</a:t>
                      </a:r>
                      <a:endParaRPr lang="en-US" sz="2800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180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0">
                          <a:effectLst/>
                          <a:latin typeface="quote-cjk-patch"/>
                        </a:rPr>
                        <a:t>Reactor Conversion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effectLst/>
                          <a:latin typeface="quote-cjk-patch"/>
                        </a:rPr>
                        <a:t>82%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effectLst/>
                          <a:latin typeface="quote-cjk-patch"/>
                        </a:rPr>
                        <a:t>📈 </a:t>
                      </a:r>
                      <a:r>
                        <a:rPr lang="en-US" sz="2800" b="1" dirty="0">
                          <a:effectLst/>
                          <a:latin typeface="quote-cjk-patch"/>
                        </a:rPr>
                        <a:t>92% achievable</a:t>
                      </a:r>
                      <a:endParaRPr lang="en-US" sz="28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57556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625F7D5B-9233-4139-AAC5-7701590E7F7B}"/>
              </a:ext>
            </a:extLst>
          </p:cNvPr>
          <p:cNvSpPr txBox="1"/>
          <p:nvPr/>
        </p:nvSpPr>
        <p:spPr>
          <a:xfrm>
            <a:off x="8416209" y="1166116"/>
            <a:ext cx="5156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What We Found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D33FDA-9FD2-4686-9280-611D2097CA8C}"/>
              </a:ext>
            </a:extLst>
          </p:cNvPr>
          <p:cNvSpPr/>
          <p:nvPr/>
        </p:nvSpPr>
        <p:spPr>
          <a:xfrm>
            <a:off x="5810740" y="6513751"/>
            <a:ext cx="94292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F1115"/>
                </a:solidFill>
                <a:latin typeface="quote-cjk-patch"/>
              </a:rPr>
              <a:t>Key Insight</a:t>
            </a:r>
          </a:p>
          <a:p>
            <a:r>
              <a:rPr lang="en-US" sz="2800" i="1" dirty="0">
                <a:solidFill>
                  <a:srgbClr val="0F1115"/>
                </a:solidFill>
                <a:latin typeface="quote-cjk-patch"/>
              </a:rPr>
              <a:t>The plant was operating below design capacity. Simple changes in reflux ratio and feed temperature could save millions annually.</a:t>
            </a:r>
            <a:endParaRPr lang="en-US" sz="2800" dirty="0">
              <a:solidFill>
                <a:srgbClr val="0F1115"/>
              </a:solidFill>
              <a:latin typeface="quote-cjk-patch"/>
            </a:endParaRPr>
          </a:p>
          <a:p>
            <a:br>
              <a:rPr lang="en-US" sz="2800" b="1" dirty="0"/>
            </a:br>
            <a:endParaRPr lang="en-US" sz="28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19442" y="-741566"/>
            <a:ext cx="5746231" cy="5746231"/>
          </a:xfrm>
          <a:custGeom>
            <a:avLst/>
            <a:gdLst/>
            <a:ahLst/>
            <a:cxnLst/>
            <a:rect l="l" t="t" r="r" b="b"/>
            <a:pathLst>
              <a:path w="5746231" h="5746231">
                <a:moveTo>
                  <a:pt x="0" y="0"/>
                </a:moveTo>
                <a:lnTo>
                  <a:pt x="5746231" y="0"/>
                </a:lnTo>
                <a:lnTo>
                  <a:pt x="5746231" y="5746231"/>
                </a:lnTo>
                <a:lnTo>
                  <a:pt x="0" y="5746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019445">
            <a:off x="12619528" y="4589514"/>
            <a:ext cx="11701170" cy="5675068"/>
          </a:xfrm>
          <a:custGeom>
            <a:avLst/>
            <a:gdLst/>
            <a:ahLst/>
            <a:cxnLst/>
            <a:rect l="l" t="t" r="r" b="b"/>
            <a:pathLst>
              <a:path w="11701170" h="5675068">
                <a:moveTo>
                  <a:pt x="0" y="0"/>
                </a:moveTo>
                <a:lnTo>
                  <a:pt x="11701170" y="0"/>
                </a:lnTo>
                <a:lnTo>
                  <a:pt x="11701170" y="5675068"/>
                </a:lnTo>
                <a:lnTo>
                  <a:pt x="0" y="5675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2090443" y="3066903"/>
            <a:ext cx="7220097" cy="7220097"/>
          </a:xfrm>
          <a:custGeom>
            <a:avLst/>
            <a:gdLst/>
            <a:ahLst/>
            <a:cxnLst/>
            <a:rect l="l" t="t" r="r" b="b"/>
            <a:pathLst>
              <a:path w="7220097" h="7220097">
                <a:moveTo>
                  <a:pt x="0" y="0"/>
                </a:moveTo>
                <a:lnTo>
                  <a:pt x="7220096" y="0"/>
                </a:lnTo>
                <a:lnTo>
                  <a:pt x="7220096" y="7220097"/>
                </a:lnTo>
                <a:lnTo>
                  <a:pt x="0" y="722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260232" y="-741566"/>
            <a:ext cx="3869422" cy="4851940"/>
          </a:xfrm>
          <a:custGeom>
            <a:avLst/>
            <a:gdLst/>
            <a:ahLst/>
            <a:cxnLst/>
            <a:rect l="l" t="t" r="r" b="b"/>
            <a:pathLst>
              <a:path w="3869422" h="4851940">
                <a:moveTo>
                  <a:pt x="3869422" y="0"/>
                </a:moveTo>
                <a:lnTo>
                  <a:pt x="0" y="0"/>
                </a:lnTo>
                <a:lnTo>
                  <a:pt x="0" y="4851940"/>
                </a:lnTo>
                <a:lnTo>
                  <a:pt x="3869422" y="4851940"/>
                </a:lnTo>
                <a:lnTo>
                  <a:pt x="38694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-1966554" y="2832771"/>
            <a:ext cx="7403666" cy="9283594"/>
          </a:xfrm>
          <a:custGeom>
            <a:avLst/>
            <a:gdLst/>
            <a:ahLst/>
            <a:cxnLst/>
            <a:rect l="l" t="t" r="r" b="b"/>
            <a:pathLst>
              <a:path w="7403666" h="9283594">
                <a:moveTo>
                  <a:pt x="7403666" y="0"/>
                </a:moveTo>
                <a:lnTo>
                  <a:pt x="0" y="0"/>
                </a:lnTo>
                <a:lnTo>
                  <a:pt x="0" y="9283594"/>
                </a:lnTo>
                <a:lnTo>
                  <a:pt x="7403666" y="9283594"/>
                </a:lnTo>
                <a:lnTo>
                  <a:pt x="74036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326157" y="9258300"/>
            <a:ext cx="18471427" cy="4710951"/>
          </a:xfrm>
          <a:custGeom>
            <a:avLst/>
            <a:gdLst/>
            <a:ahLst/>
            <a:cxnLst/>
            <a:rect l="l" t="t" r="r" b="b"/>
            <a:pathLst>
              <a:path w="18471427" h="4710951">
                <a:moveTo>
                  <a:pt x="0" y="0"/>
                </a:moveTo>
                <a:lnTo>
                  <a:pt x="18471427" y="0"/>
                </a:lnTo>
                <a:lnTo>
                  <a:pt x="18471427" y="4710951"/>
                </a:lnTo>
                <a:lnTo>
                  <a:pt x="0" y="4710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583" t="-447080" r="-20695" b="-10791"/>
            </a:stretch>
          </a:blipFill>
        </p:spPr>
      </p:sp>
      <p:sp>
        <p:nvSpPr>
          <p:cNvPr id="8" name="Freeform 8"/>
          <p:cNvSpPr/>
          <p:nvPr/>
        </p:nvSpPr>
        <p:spPr>
          <a:xfrm rot="-2203497">
            <a:off x="11813050" y="-1075251"/>
            <a:ext cx="12949900" cy="6280702"/>
          </a:xfrm>
          <a:custGeom>
            <a:avLst/>
            <a:gdLst/>
            <a:ahLst/>
            <a:cxnLst/>
            <a:rect l="l" t="t" r="r" b="b"/>
            <a:pathLst>
              <a:path w="12949900" h="6280702">
                <a:moveTo>
                  <a:pt x="0" y="0"/>
                </a:moveTo>
                <a:lnTo>
                  <a:pt x="12949900" y="0"/>
                </a:lnTo>
                <a:lnTo>
                  <a:pt x="12949900" y="6280702"/>
                </a:lnTo>
                <a:lnTo>
                  <a:pt x="0" y="62807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019445">
            <a:off x="15009518" y="7682320"/>
            <a:ext cx="5056399" cy="2452353"/>
          </a:xfrm>
          <a:custGeom>
            <a:avLst/>
            <a:gdLst/>
            <a:ahLst/>
            <a:cxnLst/>
            <a:rect l="l" t="t" r="r" b="b"/>
            <a:pathLst>
              <a:path w="5056399" h="2452353">
                <a:moveTo>
                  <a:pt x="0" y="0"/>
                </a:moveTo>
                <a:lnTo>
                  <a:pt x="5056398" y="0"/>
                </a:lnTo>
                <a:lnTo>
                  <a:pt x="5056398" y="2452353"/>
                </a:lnTo>
                <a:lnTo>
                  <a:pt x="0" y="245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29653" y="5589395"/>
            <a:ext cx="307459" cy="307459"/>
          </a:xfrm>
          <a:custGeom>
            <a:avLst/>
            <a:gdLst/>
            <a:ahLst/>
            <a:cxnLst/>
            <a:rect l="l" t="t" r="r" b="b"/>
            <a:pathLst>
              <a:path w="307459" h="307459">
                <a:moveTo>
                  <a:pt x="0" y="0"/>
                </a:moveTo>
                <a:lnTo>
                  <a:pt x="307459" y="0"/>
                </a:lnTo>
                <a:lnTo>
                  <a:pt x="307459" y="307458"/>
                </a:lnTo>
                <a:lnTo>
                  <a:pt x="0" y="3074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65854" flipH="1">
            <a:off x="-841817" y="6932059"/>
            <a:ext cx="3022581" cy="3076691"/>
          </a:xfrm>
          <a:custGeom>
            <a:avLst/>
            <a:gdLst/>
            <a:ahLst/>
            <a:cxnLst/>
            <a:rect l="l" t="t" r="r" b="b"/>
            <a:pathLst>
              <a:path w="4444581" h="4647928">
                <a:moveTo>
                  <a:pt x="4444581" y="0"/>
                </a:moveTo>
                <a:lnTo>
                  <a:pt x="0" y="0"/>
                </a:lnTo>
                <a:lnTo>
                  <a:pt x="0" y="4647928"/>
                </a:lnTo>
                <a:lnTo>
                  <a:pt x="4444581" y="4647928"/>
                </a:lnTo>
                <a:lnTo>
                  <a:pt x="444458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02547">
            <a:off x="16961549" y="4114006"/>
            <a:ext cx="1608275" cy="1681856"/>
          </a:xfrm>
          <a:custGeom>
            <a:avLst/>
            <a:gdLst/>
            <a:ahLst/>
            <a:cxnLst/>
            <a:rect l="l" t="t" r="r" b="b"/>
            <a:pathLst>
              <a:path w="1608275" h="1681856">
                <a:moveTo>
                  <a:pt x="0" y="0"/>
                </a:moveTo>
                <a:lnTo>
                  <a:pt x="1608275" y="0"/>
                </a:lnTo>
                <a:lnTo>
                  <a:pt x="1608275" y="1681856"/>
                </a:lnTo>
                <a:lnTo>
                  <a:pt x="0" y="1681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9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69698" y="5841754"/>
            <a:ext cx="9991977" cy="9842098"/>
          </a:xfrm>
          <a:custGeom>
            <a:avLst/>
            <a:gdLst/>
            <a:ahLst/>
            <a:cxnLst/>
            <a:rect l="l" t="t" r="r" b="b"/>
            <a:pathLst>
              <a:path w="9991977" h="9842098">
                <a:moveTo>
                  <a:pt x="0" y="0"/>
                </a:moveTo>
                <a:lnTo>
                  <a:pt x="9991977" y="0"/>
                </a:lnTo>
                <a:lnTo>
                  <a:pt x="9991977" y="9842098"/>
                </a:lnTo>
                <a:lnTo>
                  <a:pt x="0" y="98420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39943" y="9081342"/>
            <a:ext cx="2739274" cy="1039568"/>
          </a:xfrm>
          <a:custGeom>
            <a:avLst/>
            <a:gdLst/>
            <a:ahLst/>
            <a:cxnLst/>
            <a:rect l="l" t="t" r="r" b="b"/>
            <a:pathLst>
              <a:path w="2739274" h="1039568">
                <a:moveTo>
                  <a:pt x="0" y="0"/>
                </a:moveTo>
                <a:lnTo>
                  <a:pt x="2739274" y="0"/>
                </a:lnTo>
                <a:lnTo>
                  <a:pt x="2739274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62910" r="-6142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37677" y="9258300"/>
            <a:ext cx="4375851" cy="848163"/>
          </a:xfrm>
          <a:custGeom>
            <a:avLst/>
            <a:gdLst/>
            <a:ahLst/>
            <a:cxnLst/>
            <a:rect l="l" t="t" r="r" b="b"/>
            <a:pathLst>
              <a:path w="4375851" h="848163">
                <a:moveTo>
                  <a:pt x="0" y="0"/>
                </a:moveTo>
                <a:lnTo>
                  <a:pt x="4375850" y="0"/>
                </a:lnTo>
                <a:lnTo>
                  <a:pt x="4375850" y="848163"/>
                </a:lnTo>
                <a:lnTo>
                  <a:pt x="0" y="84816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8590" r="-598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734045" y="9109917"/>
            <a:ext cx="861179" cy="1039568"/>
          </a:xfrm>
          <a:custGeom>
            <a:avLst/>
            <a:gdLst/>
            <a:ahLst/>
            <a:cxnLst/>
            <a:rect l="l" t="t" r="r" b="b"/>
            <a:pathLst>
              <a:path w="861179" h="1039568">
                <a:moveTo>
                  <a:pt x="0" y="0"/>
                </a:moveTo>
                <a:lnTo>
                  <a:pt x="861179" y="0"/>
                </a:lnTo>
                <a:lnTo>
                  <a:pt x="861179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r="-4334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5497905" y="8846987"/>
            <a:ext cx="2790095" cy="1273923"/>
            <a:chOff x="0" y="0"/>
            <a:chExt cx="3720127" cy="1698564"/>
          </a:xfrm>
        </p:grpSpPr>
        <p:sp>
          <p:nvSpPr>
            <p:cNvPr id="18" name="Freeform 18"/>
            <p:cNvSpPr/>
            <p:nvPr/>
          </p:nvSpPr>
          <p:spPr>
            <a:xfrm>
              <a:off x="585344" y="0"/>
              <a:ext cx="2549440" cy="1698564"/>
            </a:xfrm>
            <a:custGeom>
              <a:avLst/>
              <a:gdLst/>
              <a:ahLst/>
              <a:cxnLst/>
              <a:rect l="l" t="t" r="r" b="b"/>
              <a:pathLst>
                <a:path w="2549440" h="1698564">
                  <a:moveTo>
                    <a:pt x="0" y="0"/>
                  </a:moveTo>
                  <a:lnTo>
                    <a:pt x="2549439" y="0"/>
                  </a:lnTo>
                  <a:lnTo>
                    <a:pt x="2549439" y="1698564"/>
                  </a:lnTo>
                  <a:lnTo>
                    <a:pt x="0" y="1698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1043636"/>
              <a:ext cx="3720127" cy="521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en-US" sz="242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@bic.muet 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04800" y="60421"/>
            <a:ext cx="5078752" cy="1140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62"/>
              </a:lnSpc>
              <a:spcBef>
                <a:spcPct val="0"/>
              </a:spcBef>
            </a:pPr>
            <a:r>
              <a:rPr lang="en-US" sz="6000" dirty="0">
                <a:solidFill>
                  <a:srgbClr val="004BA5"/>
                </a:solidFill>
                <a:latin typeface="Fredoka"/>
                <a:ea typeface="Fredoka"/>
                <a:cs typeface="Fredoka"/>
                <a:sym typeface="Fredoka"/>
              </a:rPr>
              <a:t>Milestones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6812" y="9692428"/>
            <a:ext cx="488826" cy="49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</a:pPr>
            <a:r>
              <a:rPr lang="en-US" sz="286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09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DCCB31-F35C-4BE5-A295-0ADA5475E915}"/>
              </a:ext>
            </a:extLst>
          </p:cNvPr>
          <p:cNvSpPr/>
          <p:nvPr/>
        </p:nvSpPr>
        <p:spPr>
          <a:xfrm>
            <a:off x="533401" y="1415504"/>
            <a:ext cx="80162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Past  | Present  | Future </a:t>
            </a:r>
          </a:p>
          <a:p>
            <a:r>
              <a:rPr lang="en-US" sz="3600" b="1" dirty="0"/>
              <a:t>Achieved</a:t>
            </a: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Team formed (MUET Chemical Engineering)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Faculty mentors on board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Software access: Aspen &amp; AutoCAD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Ethyl Acetate plant simulation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Industry discussions: 1 factories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22A86C-2426-496A-A65D-A22EAEF3F7B8}"/>
              </a:ext>
            </a:extLst>
          </p:cNvPr>
          <p:cNvSpPr/>
          <p:nvPr/>
        </p:nvSpPr>
        <p:spPr>
          <a:xfrm>
            <a:off x="8643227" y="1117037"/>
            <a:ext cx="772725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If Funded 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Software licenses </a:t>
            </a:r>
            <a:r>
              <a:rPr lang="en-US" sz="3200" dirty="0"/>
              <a:t>→ Full Aspen/AutoCAD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Student stipends </a:t>
            </a:r>
            <a:r>
              <a:rPr lang="en-US" sz="3200" dirty="0"/>
              <a:t>→ Dedicated consulting team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Industry outreach </a:t>
            </a:r>
            <a:r>
              <a:rPr lang="en-US" sz="3200" dirty="0"/>
              <a:t>→ Regular factory visits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3 free pilots </a:t>
            </a:r>
            <a:r>
              <a:rPr lang="en-US" sz="3200" dirty="0"/>
              <a:t>→ Build case studies &amp; trust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BC875C-9220-41E9-BF2C-0080C0F837CF}"/>
              </a:ext>
            </a:extLst>
          </p:cNvPr>
          <p:cNvSpPr/>
          <p:nvPr/>
        </p:nvSpPr>
        <p:spPr>
          <a:xfrm>
            <a:off x="3253814" y="7147082"/>
            <a:ext cx="1146602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/>
              <a:t>Concept proven. Team ready. Next stop: your factory.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19442" y="-741566"/>
            <a:ext cx="5746231" cy="5746231"/>
          </a:xfrm>
          <a:custGeom>
            <a:avLst/>
            <a:gdLst/>
            <a:ahLst/>
            <a:cxnLst/>
            <a:rect l="l" t="t" r="r" b="b"/>
            <a:pathLst>
              <a:path w="5746231" h="5746231">
                <a:moveTo>
                  <a:pt x="0" y="0"/>
                </a:moveTo>
                <a:lnTo>
                  <a:pt x="5746231" y="0"/>
                </a:lnTo>
                <a:lnTo>
                  <a:pt x="5746231" y="5746231"/>
                </a:lnTo>
                <a:lnTo>
                  <a:pt x="0" y="5746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019445">
            <a:off x="12619528" y="4589514"/>
            <a:ext cx="11701170" cy="5675068"/>
          </a:xfrm>
          <a:custGeom>
            <a:avLst/>
            <a:gdLst/>
            <a:ahLst/>
            <a:cxnLst/>
            <a:rect l="l" t="t" r="r" b="b"/>
            <a:pathLst>
              <a:path w="11701170" h="5675068">
                <a:moveTo>
                  <a:pt x="0" y="0"/>
                </a:moveTo>
                <a:lnTo>
                  <a:pt x="11701170" y="0"/>
                </a:lnTo>
                <a:lnTo>
                  <a:pt x="11701170" y="5675068"/>
                </a:lnTo>
                <a:lnTo>
                  <a:pt x="0" y="5675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2090443" y="3066903"/>
            <a:ext cx="7220097" cy="7220097"/>
          </a:xfrm>
          <a:custGeom>
            <a:avLst/>
            <a:gdLst/>
            <a:ahLst/>
            <a:cxnLst/>
            <a:rect l="l" t="t" r="r" b="b"/>
            <a:pathLst>
              <a:path w="7220097" h="7220097">
                <a:moveTo>
                  <a:pt x="0" y="0"/>
                </a:moveTo>
                <a:lnTo>
                  <a:pt x="7220096" y="0"/>
                </a:lnTo>
                <a:lnTo>
                  <a:pt x="7220096" y="7220097"/>
                </a:lnTo>
                <a:lnTo>
                  <a:pt x="0" y="722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260232" y="-741566"/>
            <a:ext cx="3869422" cy="4851940"/>
          </a:xfrm>
          <a:custGeom>
            <a:avLst/>
            <a:gdLst/>
            <a:ahLst/>
            <a:cxnLst/>
            <a:rect l="l" t="t" r="r" b="b"/>
            <a:pathLst>
              <a:path w="3869422" h="4851940">
                <a:moveTo>
                  <a:pt x="3869422" y="0"/>
                </a:moveTo>
                <a:lnTo>
                  <a:pt x="0" y="0"/>
                </a:lnTo>
                <a:lnTo>
                  <a:pt x="0" y="4851940"/>
                </a:lnTo>
                <a:lnTo>
                  <a:pt x="3869422" y="4851940"/>
                </a:lnTo>
                <a:lnTo>
                  <a:pt x="38694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-1966554" y="2832771"/>
            <a:ext cx="7403666" cy="9283594"/>
          </a:xfrm>
          <a:custGeom>
            <a:avLst/>
            <a:gdLst/>
            <a:ahLst/>
            <a:cxnLst/>
            <a:rect l="l" t="t" r="r" b="b"/>
            <a:pathLst>
              <a:path w="7403666" h="9283594">
                <a:moveTo>
                  <a:pt x="7403666" y="0"/>
                </a:moveTo>
                <a:lnTo>
                  <a:pt x="0" y="0"/>
                </a:lnTo>
                <a:lnTo>
                  <a:pt x="0" y="9283594"/>
                </a:lnTo>
                <a:lnTo>
                  <a:pt x="7403666" y="9283594"/>
                </a:lnTo>
                <a:lnTo>
                  <a:pt x="74036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326157" y="9258300"/>
            <a:ext cx="18471427" cy="4710951"/>
          </a:xfrm>
          <a:custGeom>
            <a:avLst/>
            <a:gdLst/>
            <a:ahLst/>
            <a:cxnLst/>
            <a:rect l="l" t="t" r="r" b="b"/>
            <a:pathLst>
              <a:path w="18471427" h="4710951">
                <a:moveTo>
                  <a:pt x="0" y="0"/>
                </a:moveTo>
                <a:lnTo>
                  <a:pt x="18471427" y="0"/>
                </a:lnTo>
                <a:lnTo>
                  <a:pt x="18471427" y="4710951"/>
                </a:lnTo>
                <a:lnTo>
                  <a:pt x="0" y="4710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583" t="-447080" r="-20695" b="-10791"/>
            </a:stretch>
          </a:blipFill>
        </p:spPr>
      </p:sp>
      <p:sp>
        <p:nvSpPr>
          <p:cNvPr id="8" name="Freeform 8"/>
          <p:cNvSpPr/>
          <p:nvPr/>
        </p:nvSpPr>
        <p:spPr>
          <a:xfrm rot="-2203497">
            <a:off x="11813050" y="-1075251"/>
            <a:ext cx="12949900" cy="6280702"/>
          </a:xfrm>
          <a:custGeom>
            <a:avLst/>
            <a:gdLst/>
            <a:ahLst/>
            <a:cxnLst/>
            <a:rect l="l" t="t" r="r" b="b"/>
            <a:pathLst>
              <a:path w="12949900" h="6280702">
                <a:moveTo>
                  <a:pt x="0" y="0"/>
                </a:moveTo>
                <a:lnTo>
                  <a:pt x="12949900" y="0"/>
                </a:lnTo>
                <a:lnTo>
                  <a:pt x="12949900" y="6280702"/>
                </a:lnTo>
                <a:lnTo>
                  <a:pt x="0" y="62807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019445">
            <a:off x="15009518" y="7682320"/>
            <a:ext cx="5056399" cy="2452353"/>
          </a:xfrm>
          <a:custGeom>
            <a:avLst/>
            <a:gdLst/>
            <a:ahLst/>
            <a:cxnLst/>
            <a:rect l="l" t="t" r="r" b="b"/>
            <a:pathLst>
              <a:path w="5056399" h="2452353">
                <a:moveTo>
                  <a:pt x="0" y="0"/>
                </a:moveTo>
                <a:lnTo>
                  <a:pt x="5056398" y="0"/>
                </a:lnTo>
                <a:lnTo>
                  <a:pt x="5056398" y="2452353"/>
                </a:lnTo>
                <a:lnTo>
                  <a:pt x="0" y="245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29653" y="5589395"/>
            <a:ext cx="307459" cy="307459"/>
          </a:xfrm>
          <a:custGeom>
            <a:avLst/>
            <a:gdLst/>
            <a:ahLst/>
            <a:cxnLst/>
            <a:rect l="l" t="t" r="r" b="b"/>
            <a:pathLst>
              <a:path w="307459" h="307459">
                <a:moveTo>
                  <a:pt x="0" y="0"/>
                </a:moveTo>
                <a:lnTo>
                  <a:pt x="307459" y="0"/>
                </a:lnTo>
                <a:lnTo>
                  <a:pt x="307459" y="307458"/>
                </a:lnTo>
                <a:lnTo>
                  <a:pt x="0" y="3074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02547">
            <a:off x="16961549" y="4114006"/>
            <a:ext cx="1608275" cy="1681856"/>
          </a:xfrm>
          <a:custGeom>
            <a:avLst/>
            <a:gdLst/>
            <a:ahLst/>
            <a:cxnLst/>
            <a:rect l="l" t="t" r="r" b="b"/>
            <a:pathLst>
              <a:path w="1608275" h="1681856">
                <a:moveTo>
                  <a:pt x="0" y="0"/>
                </a:moveTo>
                <a:lnTo>
                  <a:pt x="1608275" y="0"/>
                </a:lnTo>
                <a:lnTo>
                  <a:pt x="1608275" y="1681856"/>
                </a:lnTo>
                <a:lnTo>
                  <a:pt x="0" y="1681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9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69698" y="5841754"/>
            <a:ext cx="9991977" cy="9842098"/>
          </a:xfrm>
          <a:custGeom>
            <a:avLst/>
            <a:gdLst/>
            <a:ahLst/>
            <a:cxnLst/>
            <a:rect l="l" t="t" r="r" b="b"/>
            <a:pathLst>
              <a:path w="9991977" h="9842098">
                <a:moveTo>
                  <a:pt x="0" y="0"/>
                </a:moveTo>
                <a:lnTo>
                  <a:pt x="9991977" y="0"/>
                </a:lnTo>
                <a:lnTo>
                  <a:pt x="9991977" y="9842098"/>
                </a:lnTo>
                <a:lnTo>
                  <a:pt x="0" y="98420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39943" y="9081342"/>
            <a:ext cx="2739274" cy="1039568"/>
          </a:xfrm>
          <a:custGeom>
            <a:avLst/>
            <a:gdLst/>
            <a:ahLst/>
            <a:cxnLst/>
            <a:rect l="l" t="t" r="r" b="b"/>
            <a:pathLst>
              <a:path w="2739274" h="1039568">
                <a:moveTo>
                  <a:pt x="0" y="0"/>
                </a:moveTo>
                <a:lnTo>
                  <a:pt x="2739274" y="0"/>
                </a:lnTo>
                <a:lnTo>
                  <a:pt x="2739274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62910" r="-6142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37677" y="9258300"/>
            <a:ext cx="4375851" cy="848163"/>
          </a:xfrm>
          <a:custGeom>
            <a:avLst/>
            <a:gdLst/>
            <a:ahLst/>
            <a:cxnLst/>
            <a:rect l="l" t="t" r="r" b="b"/>
            <a:pathLst>
              <a:path w="4375851" h="848163">
                <a:moveTo>
                  <a:pt x="0" y="0"/>
                </a:moveTo>
                <a:lnTo>
                  <a:pt x="4375850" y="0"/>
                </a:lnTo>
                <a:lnTo>
                  <a:pt x="4375850" y="848163"/>
                </a:lnTo>
                <a:lnTo>
                  <a:pt x="0" y="84816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8590" r="-598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734045" y="9109917"/>
            <a:ext cx="861179" cy="1039568"/>
          </a:xfrm>
          <a:custGeom>
            <a:avLst/>
            <a:gdLst/>
            <a:ahLst/>
            <a:cxnLst/>
            <a:rect l="l" t="t" r="r" b="b"/>
            <a:pathLst>
              <a:path w="861179" h="1039568">
                <a:moveTo>
                  <a:pt x="0" y="0"/>
                </a:moveTo>
                <a:lnTo>
                  <a:pt x="861179" y="0"/>
                </a:lnTo>
                <a:lnTo>
                  <a:pt x="861179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r="-4334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5497905" y="8846987"/>
            <a:ext cx="2790095" cy="1273923"/>
            <a:chOff x="0" y="0"/>
            <a:chExt cx="3720127" cy="1698564"/>
          </a:xfrm>
        </p:grpSpPr>
        <p:sp>
          <p:nvSpPr>
            <p:cNvPr id="18" name="Freeform 18"/>
            <p:cNvSpPr/>
            <p:nvPr/>
          </p:nvSpPr>
          <p:spPr>
            <a:xfrm>
              <a:off x="585344" y="0"/>
              <a:ext cx="2549440" cy="1698564"/>
            </a:xfrm>
            <a:custGeom>
              <a:avLst/>
              <a:gdLst/>
              <a:ahLst/>
              <a:cxnLst/>
              <a:rect l="l" t="t" r="r" b="b"/>
              <a:pathLst>
                <a:path w="2549440" h="1698564">
                  <a:moveTo>
                    <a:pt x="0" y="0"/>
                  </a:moveTo>
                  <a:lnTo>
                    <a:pt x="2549439" y="0"/>
                  </a:lnTo>
                  <a:lnTo>
                    <a:pt x="2549439" y="1698564"/>
                  </a:lnTo>
                  <a:lnTo>
                    <a:pt x="0" y="1698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1043636"/>
              <a:ext cx="3720127" cy="521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en-US" sz="242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@bic.muet 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80931" y="316320"/>
            <a:ext cx="4277568" cy="1177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62"/>
              </a:lnSpc>
              <a:spcBef>
                <a:spcPct val="0"/>
              </a:spcBef>
            </a:pPr>
            <a:r>
              <a:rPr lang="en-US" sz="7200" dirty="0">
                <a:solidFill>
                  <a:srgbClr val="004BA5"/>
                </a:solidFill>
                <a:latin typeface="Fredoka"/>
                <a:ea typeface="Fredoka"/>
                <a:cs typeface="Fredoka"/>
                <a:sym typeface="Fredoka"/>
              </a:rPr>
              <a:t>Team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1772" y="9692428"/>
            <a:ext cx="438905" cy="49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</a:pPr>
            <a:r>
              <a:rPr lang="en-US" sz="286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6D405C9-335A-47E0-9358-FFC4818E3351}"/>
              </a:ext>
            </a:extLst>
          </p:cNvPr>
          <p:cNvSpPr/>
          <p:nvPr/>
        </p:nvSpPr>
        <p:spPr>
          <a:xfrm>
            <a:off x="831742" y="2137932"/>
            <a:ext cx="3759045" cy="3667770"/>
          </a:xfrm>
          <a:prstGeom prst="ellipse">
            <a:avLst/>
          </a:prstGeom>
          <a:blipFill dpi="0"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EFFEF11-7342-4BC1-8F4C-C33FA631AE4F}"/>
              </a:ext>
            </a:extLst>
          </p:cNvPr>
          <p:cNvSpPr/>
          <p:nvPr/>
        </p:nvSpPr>
        <p:spPr>
          <a:xfrm>
            <a:off x="6192099" y="2195294"/>
            <a:ext cx="3759045" cy="3667770"/>
          </a:xfrm>
          <a:prstGeom prst="ellipse">
            <a:avLst/>
          </a:prstGeom>
          <a:blipFill dpi="0"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6B5A04-0D5B-4986-8379-D4308B547EC2}"/>
              </a:ext>
            </a:extLst>
          </p:cNvPr>
          <p:cNvSpPr txBox="1"/>
          <p:nvPr/>
        </p:nvSpPr>
        <p:spPr>
          <a:xfrm>
            <a:off x="1257477" y="6043600"/>
            <a:ext cx="520857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Muhsin Ali</a:t>
            </a:r>
          </a:p>
          <a:p>
            <a:r>
              <a:rPr lang="en-US" sz="2800" b="1" dirty="0"/>
              <a:t>Founder &amp; COO</a:t>
            </a:r>
          </a:p>
          <a:p>
            <a:r>
              <a:rPr lang="en-US" sz="2800" dirty="0"/>
              <a:t>Process Lead, Industry Coordination, Operations Management</a:t>
            </a:r>
            <a:r>
              <a:rPr lang="en-US" sz="2800" b="1" dirty="0"/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E27660-6CA3-4FEA-ADD5-314D883218FC}"/>
              </a:ext>
            </a:extLst>
          </p:cNvPr>
          <p:cNvSpPr txBox="1"/>
          <p:nvPr/>
        </p:nvSpPr>
        <p:spPr>
          <a:xfrm>
            <a:off x="6395869" y="6058918"/>
            <a:ext cx="451705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Sardar Ali</a:t>
            </a:r>
          </a:p>
          <a:p>
            <a:r>
              <a:rPr lang="en-US" sz="2400" b="1" dirty="0"/>
              <a:t>CTO &amp; Co-Founder</a:t>
            </a:r>
          </a:p>
          <a:p>
            <a:r>
              <a:rPr lang="en-US" sz="2800" dirty="0"/>
              <a:t>Process Simulation, Technical Modeling, Software &amp; Design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BA5C88-7F8C-4A04-9FEC-928DF7215FB9}"/>
              </a:ext>
            </a:extLst>
          </p:cNvPr>
          <p:cNvSpPr txBox="1"/>
          <p:nvPr/>
        </p:nvSpPr>
        <p:spPr>
          <a:xfrm>
            <a:off x="11840378" y="6326610"/>
            <a:ext cx="49530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Muhammad Hassan</a:t>
            </a:r>
          </a:p>
          <a:p>
            <a:r>
              <a:rPr lang="en-US" sz="3200" b="1" dirty="0"/>
              <a:t>CFO &amp; CMO</a:t>
            </a:r>
          </a:p>
          <a:p>
            <a:r>
              <a:rPr lang="en-US" sz="2800" dirty="0"/>
              <a:t>Financial Planning, Marketing Strategy, Client Acquisition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B4085E-F971-4E53-9BAF-6F6A832799B9}"/>
              </a:ext>
            </a:extLst>
          </p:cNvPr>
          <p:cNvSpPr txBox="1"/>
          <p:nvPr/>
        </p:nvSpPr>
        <p:spPr>
          <a:xfrm>
            <a:off x="5129653" y="647699"/>
            <a:ext cx="6454952" cy="1483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The Dreamers &amp; The Doers</a:t>
            </a:r>
          </a:p>
          <a:p>
            <a:pPr algn="ctr"/>
            <a:r>
              <a:rPr lang="en-US" sz="2400" b="1" i="1" dirty="0"/>
              <a:t>We don't just work together. We believe together.</a:t>
            </a:r>
            <a:endParaRPr lang="en-US" sz="4800" b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B8544F-D25B-49EF-9F80-CFA5B9C178E7}"/>
              </a:ext>
            </a:extLst>
          </p:cNvPr>
          <p:cNvSpPr/>
          <p:nvPr/>
        </p:nvSpPr>
        <p:spPr>
          <a:xfrm>
            <a:off x="11622938" y="2256446"/>
            <a:ext cx="3540862" cy="3640408"/>
          </a:xfrm>
          <a:prstGeom prst="ellipse">
            <a:avLst/>
          </a:prstGeom>
          <a:blipFill dpi="0" rotWithShape="1"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19442" y="-741566"/>
            <a:ext cx="5746231" cy="5746231"/>
          </a:xfrm>
          <a:custGeom>
            <a:avLst/>
            <a:gdLst/>
            <a:ahLst/>
            <a:cxnLst/>
            <a:rect l="l" t="t" r="r" b="b"/>
            <a:pathLst>
              <a:path w="5746231" h="5746231">
                <a:moveTo>
                  <a:pt x="0" y="0"/>
                </a:moveTo>
                <a:lnTo>
                  <a:pt x="5746231" y="0"/>
                </a:lnTo>
                <a:lnTo>
                  <a:pt x="5746231" y="5746231"/>
                </a:lnTo>
                <a:lnTo>
                  <a:pt x="0" y="5746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019445">
            <a:off x="12619528" y="4589514"/>
            <a:ext cx="11701170" cy="5675068"/>
          </a:xfrm>
          <a:custGeom>
            <a:avLst/>
            <a:gdLst/>
            <a:ahLst/>
            <a:cxnLst/>
            <a:rect l="l" t="t" r="r" b="b"/>
            <a:pathLst>
              <a:path w="11701170" h="5675068">
                <a:moveTo>
                  <a:pt x="0" y="0"/>
                </a:moveTo>
                <a:lnTo>
                  <a:pt x="11701170" y="0"/>
                </a:lnTo>
                <a:lnTo>
                  <a:pt x="11701170" y="5675068"/>
                </a:lnTo>
                <a:lnTo>
                  <a:pt x="0" y="5675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2090443" y="3066903"/>
            <a:ext cx="7220097" cy="7220097"/>
          </a:xfrm>
          <a:custGeom>
            <a:avLst/>
            <a:gdLst/>
            <a:ahLst/>
            <a:cxnLst/>
            <a:rect l="l" t="t" r="r" b="b"/>
            <a:pathLst>
              <a:path w="7220097" h="7220097">
                <a:moveTo>
                  <a:pt x="0" y="0"/>
                </a:moveTo>
                <a:lnTo>
                  <a:pt x="7220096" y="0"/>
                </a:lnTo>
                <a:lnTo>
                  <a:pt x="7220096" y="7220097"/>
                </a:lnTo>
                <a:lnTo>
                  <a:pt x="0" y="722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260232" y="-741566"/>
            <a:ext cx="3869422" cy="4851940"/>
          </a:xfrm>
          <a:custGeom>
            <a:avLst/>
            <a:gdLst/>
            <a:ahLst/>
            <a:cxnLst/>
            <a:rect l="l" t="t" r="r" b="b"/>
            <a:pathLst>
              <a:path w="3869422" h="4851940">
                <a:moveTo>
                  <a:pt x="3869422" y="0"/>
                </a:moveTo>
                <a:lnTo>
                  <a:pt x="0" y="0"/>
                </a:lnTo>
                <a:lnTo>
                  <a:pt x="0" y="4851940"/>
                </a:lnTo>
                <a:lnTo>
                  <a:pt x="3869422" y="4851940"/>
                </a:lnTo>
                <a:lnTo>
                  <a:pt x="38694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-1966554" y="2832771"/>
            <a:ext cx="7403666" cy="9283594"/>
          </a:xfrm>
          <a:custGeom>
            <a:avLst/>
            <a:gdLst/>
            <a:ahLst/>
            <a:cxnLst/>
            <a:rect l="l" t="t" r="r" b="b"/>
            <a:pathLst>
              <a:path w="7403666" h="9283594">
                <a:moveTo>
                  <a:pt x="7403666" y="0"/>
                </a:moveTo>
                <a:lnTo>
                  <a:pt x="0" y="0"/>
                </a:lnTo>
                <a:lnTo>
                  <a:pt x="0" y="9283594"/>
                </a:lnTo>
                <a:lnTo>
                  <a:pt x="7403666" y="9283594"/>
                </a:lnTo>
                <a:lnTo>
                  <a:pt x="74036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326157" y="9258300"/>
            <a:ext cx="18471427" cy="4710951"/>
          </a:xfrm>
          <a:custGeom>
            <a:avLst/>
            <a:gdLst/>
            <a:ahLst/>
            <a:cxnLst/>
            <a:rect l="l" t="t" r="r" b="b"/>
            <a:pathLst>
              <a:path w="18471427" h="4710951">
                <a:moveTo>
                  <a:pt x="0" y="0"/>
                </a:moveTo>
                <a:lnTo>
                  <a:pt x="18471427" y="0"/>
                </a:lnTo>
                <a:lnTo>
                  <a:pt x="18471427" y="4710951"/>
                </a:lnTo>
                <a:lnTo>
                  <a:pt x="0" y="4710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583" t="-447080" r="-20695" b="-10791"/>
            </a:stretch>
          </a:blipFill>
        </p:spPr>
      </p:sp>
      <p:sp>
        <p:nvSpPr>
          <p:cNvPr id="8" name="Freeform 8"/>
          <p:cNvSpPr/>
          <p:nvPr/>
        </p:nvSpPr>
        <p:spPr>
          <a:xfrm rot="-2203497">
            <a:off x="11813050" y="-1075251"/>
            <a:ext cx="12949900" cy="6280702"/>
          </a:xfrm>
          <a:custGeom>
            <a:avLst/>
            <a:gdLst/>
            <a:ahLst/>
            <a:cxnLst/>
            <a:rect l="l" t="t" r="r" b="b"/>
            <a:pathLst>
              <a:path w="12949900" h="6280702">
                <a:moveTo>
                  <a:pt x="0" y="0"/>
                </a:moveTo>
                <a:lnTo>
                  <a:pt x="12949900" y="0"/>
                </a:lnTo>
                <a:lnTo>
                  <a:pt x="12949900" y="6280702"/>
                </a:lnTo>
                <a:lnTo>
                  <a:pt x="0" y="62807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019445">
            <a:off x="15009518" y="7682320"/>
            <a:ext cx="5056399" cy="2452353"/>
          </a:xfrm>
          <a:custGeom>
            <a:avLst/>
            <a:gdLst/>
            <a:ahLst/>
            <a:cxnLst/>
            <a:rect l="l" t="t" r="r" b="b"/>
            <a:pathLst>
              <a:path w="5056399" h="2452353">
                <a:moveTo>
                  <a:pt x="0" y="0"/>
                </a:moveTo>
                <a:lnTo>
                  <a:pt x="5056398" y="0"/>
                </a:lnTo>
                <a:lnTo>
                  <a:pt x="5056398" y="2452353"/>
                </a:lnTo>
                <a:lnTo>
                  <a:pt x="0" y="245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29653" y="5589395"/>
            <a:ext cx="307459" cy="307459"/>
          </a:xfrm>
          <a:custGeom>
            <a:avLst/>
            <a:gdLst/>
            <a:ahLst/>
            <a:cxnLst/>
            <a:rect l="l" t="t" r="r" b="b"/>
            <a:pathLst>
              <a:path w="307459" h="307459">
                <a:moveTo>
                  <a:pt x="0" y="0"/>
                </a:moveTo>
                <a:lnTo>
                  <a:pt x="307459" y="0"/>
                </a:lnTo>
                <a:lnTo>
                  <a:pt x="307459" y="307458"/>
                </a:lnTo>
                <a:lnTo>
                  <a:pt x="0" y="3074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65854" flipH="1">
            <a:off x="-850414" y="6709838"/>
            <a:ext cx="3192175" cy="3292684"/>
          </a:xfrm>
          <a:custGeom>
            <a:avLst/>
            <a:gdLst/>
            <a:ahLst/>
            <a:cxnLst/>
            <a:rect l="l" t="t" r="r" b="b"/>
            <a:pathLst>
              <a:path w="4444581" h="4647928">
                <a:moveTo>
                  <a:pt x="4444581" y="0"/>
                </a:moveTo>
                <a:lnTo>
                  <a:pt x="0" y="0"/>
                </a:lnTo>
                <a:lnTo>
                  <a:pt x="0" y="4647928"/>
                </a:lnTo>
                <a:lnTo>
                  <a:pt x="4444581" y="4647928"/>
                </a:lnTo>
                <a:lnTo>
                  <a:pt x="444458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02547">
            <a:off x="16961549" y="4114006"/>
            <a:ext cx="1608275" cy="1681856"/>
          </a:xfrm>
          <a:custGeom>
            <a:avLst/>
            <a:gdLst/>
            <a:ahLst/>
            <a:cxnLst/>
            <a:rect l="l" t="t" r="r" b="b"/>
            <a:pathLst>
              <a:path w="1608275" h="1681856">
                <a:moveTo>
                  <a:pt x="0" y="0"/>
                </a:moveTo>
                <a:lnTo>
                  <a:pt x="1608275" y="0"/>
                </a:lnTo>
                <a:lnTo>
                  <a:pt x="1608275" y="1681856"/>
                </a:lnTo>
                <a:lnTo>
                  <a:pt x="0" y="1681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9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69698" y="5841754"/>
            <a:ext cx="9991977" cy="9842098"/>
          </a:xfrm>
          <a:custGeom>
            <a:avLst/>
            <a:gdLst/>
            <a:ahLst/>
            <a:cxnLst/>
            <a:rect l="l" t="t" r="r" b="b"/>
            <a:pathLst>
              <a:path w="9991977" h="9842098">
                <a:moveTo>
                  <a:pt x="0" y="0"/>
                </a:moveTo>
                <a:lnTo>
                  <a:pt x="9991977" y="0"/>
                </a:lnTo>
                <a:lnTo>
                  <a:pt x="9991977" y="9842098"/>
                </a:lnTo>
                <a:lnTo>
                  <a:pt x="0" y="98420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39943" y="9081342"/>
            <a:ext cx="2739274" cy="1039568"/>
          </a:xfrm>
          <a:custGeom>
            <a:avLst/>
            <a:gdLst/>
            <a:ahLst/>
            <a:cxnLst/>
            <a:rect l="l" t="t" r="r" b="b"/>
            <a:pathLst>
              <a:path w="2739274" h="1039568">
                <a:moveTo>
                  <a:pt x="0" y="0"/>
                </a:moveTo>
                <a:lnTo>
                  <a:pt x="2739274" y="0"/>
                </a:lnTo>
                <a:lnTo>
                  <a:pt x="2739274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62910" r="-6142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37677" y="9258300"/>
            <a:ext cx="4375851" cy="848163"/>
          </a:xfrm>
          <a:custGeom>
            <a:avLst/>
            <a:gdLst/>
            <a:ahLst/>
            <a:cxnLst/>
            <a:rect l="l" t="t" r="r" b="b"/>
            <a:pathLst>
              <a:path w="4375851" h="848163">
                <a:moveTo>
                  <a:pt x="0" y="0"/>
                </a:moveTo>
                <a:lnTo>
                  <a:pt x="4375850" y="0"/>
                </a:lnTo>
                <a:lnTo>
                  <a:pt x="4375850" y="848163"/>
                </a:lnTo>
                <a:lnTo>
                  <a:pt x="0" y="84816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8590" r="-598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734045" y="9109917"/>
            <a:ext cx="861179" cy="1039568"/>
          </a:xfrm>
          <a:custGeom>
            <a:avLst/>
            <a:gdLst/>
            <a:ahLst/>
            <a:cxnLst/>
            <a:rect l="l" t="t" r="r" b="b"/>
            <a:pathLst>
              <a:path w="861179" h="1039568">
                <a:moveTo>
                  <a:pt x="0" y="0"/>
                </a:moveTo>
                <a:lnTo>
                  <a:pt x="861179" y="0"/>
                </a:lnTo>
                <a:lnTo>
                  <a:pt x="861179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r="-4334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5497905" y="8846987"/>
            <a:ext cx="2790095" cy="1273923"/>
            <a:chOff x="0" y="0"/>
            <a:chExt cx="3720127" cy="1698564"/>
          </a:xfrm>
        </p:grpSpPr>
        <p:sp>
          <p:nvSpPr>
            <p:cNvPr id="18" name="Freeform 18"/>
            <p:cNvSpPr/>
            <p:nvPr/>
          </p:nvSpPr>
          <p:spPr>
            <a:xfrm>
              <a:off x="585344" y="0"/>
              <a:ext cx="2549440" cy="1698564"/>
            </a:xfrm>
            <a:custGeom>
              <a:avLst/>
              <a:gdLst/>
              <a:ahLst/>
              <a:cxnLst/>
              <a:rect l="l" t="t" r="r" b="b"/>
              <a:pathLst>
                <a:path w="2549440" h="1698564">
                  <a:moveTo>
                    <a:pt x="0" y="0"/>
                  </a:moveTo>
                  <a:lnTo>
                    <a:pt x="2549439" y="0"/>
                  </a:lnTo>
                  <a:lnTo>
                    <a:pt x="2549439" y="1698564"/>
                  </a:lnTo>
                  <a:lnTo>
                    <a:pt x="0" y="1698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1043636"/>
              <a:ext cx="3720127" cy="521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en-US" sz="242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@bic.muet 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-462849" y="51560"/>
            <a:ext cx="5746231" cy="1122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62"/>
              </a:lnSpc>
              <a:spcBef>
                <a:spcPct val="0"/>
              </a:spcBef>
            </a:pPr>
            <a:r>
              <a:rPr lang="en-US" sz="6000" dirty="0">
                <a:solidFill>
                  <a:srgbClr val="004BA5"/>
                </a:solidFill>
                <a:latin typeface="Fredoka"/>
                <a:ea typeface="Fredoka"/>
                <a:cs typeface="Fredoka"/>
                <a:sym typeface="Fredoka"/>
              </a:rPr>
              <a:t>Financials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9495" y="9692428"/>
            <a:ext cx="383461" cy="49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</a:pPr>
            <a:r>
              <a:rPr lang="en-US" sz="286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228E437-A12E-42BA-9AF7-06BA5F2DF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52936"/>
              </p:ext>
            </p:extLst>
          </p:nvPr>
        </p:nvGraphicFramePr>
        <p:xfrm>
          <a:off x="974190" y="2268927"/>
          <a:ext cx="6945810" cy="4221480"/>
        </p:xfrm>
        <a:graphic>
          <a:graphicData uri="http://schemas.openxmlformats.org/drawingml/2006/table">
            <a:tbl>
              <a:tblPr/>
              <a:tblGrid>
                <a:gridCol w="3081189">
                  <a:extLst>
                    <a:ext uri="{9D8B030D-6E8A-4147-A177-3AD203B41FA5}">
                      <a16:colId xmlns:a16="http://schemas.microsoft.com/office/drawing/2014/main" val="1188599494"/>
                    </a:ext>
                  </a:extLst>
                </a:gridCol>
                <a:gridCol w="3864621">
                  <a:extLst>
                    <a:ext uri="{9D8B030D-6E8A-4147-A177-3AD203B41FA5}">
                      <a16:colId xmlns:a16="http://schemas.microsoft.com/office/drawing/2014/main" val="4107212911"/>
                    </a:ext>
                  </a:extLst>
                </a:gridCol>
              </a:tblGrid>
              <a:tr h="627275">
                <a:tc>
                  <a:txBody>
                    <a:bodyPr/>
                    <a:lstStyle/>
                    <a:p>
                      <a:pPr algn="l"/>
                      <a:r>
                        <a:rPr lang="en-US" sz="3600" b="1">
                          <a:effectLst/>
                          <a:latin typeface="quote-cjk-patch"/>
                        </a:rPr>
                        <a:t>Stream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b="1">
                          <a:effectLst/>
                          <a:latin typeface="quote-cjk-patch"/>
                        </a:rPr>
                        <a:t>How It Works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399419"/>
                  </a:ext>
                </a:extLst>
              </a:tr>
              <a:tr h="1490708">
                <a:tc>
                  <a:txBody>
                    <a:bodyPr/>
                    <a:lstStyle/>
                    <a:p>
                      <a:r>
                        <a:rPr lang="en-US" sz="3600" b="1">
                          <a:effectLst/>
                          <a:latin typeface="quote-cjk-patch"/>
                        </a:rPr>
                        <a:t>Project-Based Consulting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b="1" dirty="0">
                          <a:effectLst/>
                          <a:latin typeface="quote-cjk-patch"/>
                        </a:rPr>
                        <a:t>Fixed fee per audit / simulation project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104253"/>
                  </a:ext>
                </a:extLst>
              </a:tr>
              <a:tr h="1732865">
                <a:tc>
                  <a:txBody>
                    <a:bodyPr/>
                    <a:lstStyle/>
                    <a:p>
                      <a:r>
                        <a:rPr lang="en-US" sz="3600" b="1">
                          <a:effectLst/>
                          <a:latin typeface="quote-cjk-patch"/>
                        </a:rPr>
                        <a:t>Training Programs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b="1" dirty="0">
                          <a:effectLst/>
                          <a:latin typeface="quote-cjk-patch"/>
                        </a:rPr>
                        <a:t>Paid workshops on safety, software, compliance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76381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D434A65-75C9-4621-8405-0C5675BA1A43}"/>
              </a:ext>
            </a:extLst>
          </p:cNvPr>
          <p:cNvSpPr txBox="1"/>
          <p:nvPr/>
        </p:nvSpPr>
        <p:spPr>
          <a:xfrm>
            <a:off x="974190" y="1409700"/>
            <a:ext cx="52179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Revenue Model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62D9F2A-713D-438C-AC91-8DA182DFB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204907"/>
              </p:ext>
            </p:extLst>
          </p:nvPr>
        </p:nvGraphicFramePr>
        <p:xfrm>
          <a:off x="8426936" y="1426467"/>
          <a:ext cx="4775199" cy="2458720"/>
        </p:xfrm>
        <a:graphic>
          <a:graphicData uri="http://schemas.openxmlformats.org/drawingml/2006/table">
            <a:tbl>
              <a:tblPr/>
              <a:tblGrid>
                <a:gridCol w="1326664">
                  <a:extLst>
                    <a:ext uri="{9D8B030D-6E8A-4147-A177-3AD203B41FA5}">
                      <a16:colId xmlns:a16="http://schemas.microsoft.com/office/drawing/2014/main" val="112811068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23215133"/>
                    </a:ext>
                  </a:extLst>
                </a:gridCol>
                <a:gridCol w="1924535">
                  <a:extLst>
                    <a:ext uri="{9D8B030D-6E8A-4147-A177-3AD203B41FA5}">
                      <a16:colId xmlns:a16="http://schemas.microsoft.com/office/drawing/2014/main" val="19940277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3200" b="1">
                          <a:effectLst/>
                          <a:latin typeface="quote-cjk-patch"/>
                        </a:rPr>
                        <a:t>Year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effectLst/>
                          <a:latin typeface="quote-cjk-patch"/>
                        </a:rPr>
                        <a:t>Projects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effectLst/>
                          <a:latin typeface="quote-cjk-patch"/>
                        </a:rPr>
                        <a:t>Revenue 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9623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200" b="1">
                          <a:effectLst/>
                          <a:latin typeface="quote-cjk-patch"/>
                        </a:rPr>
                        <a:t>Year 1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>
                          <a:effectLst/>
                          <a:latin typeface="quote-cjk-patch"/>
                        </a:rPr>
                        <a:t>10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effectLst/>
                          <a:latin typeface="quote-cjk-patch"/>
                        </a:rPr>
                        <a:t>20000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10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200" b="1" dirty="0">
                          <a:effectLst/>
                          <a:latin typeface="quote-cjk-patch"/>
                        </a:rPr>
                        <a:t>Year 2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effectLst/>
                          <a:latin typeface="quote-cjk-patch"/>
                        </a:rPr>
                        <a:t>18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effectLst/>
                          <a:latin typeface="quote-cjk-patch"/>
                        </a:rPr>
                        <a:t>36000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61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200" b="1" dirty="0">
                          <a:effectLst/>
                          <a:latin typeface="quote-cjk-patch"/>
                        </a:rPr>
                        <a:t>Year 3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>
                          <a:effectLst/>
                          <a:latin typeface="quote-cjk-patch"/>
                        </a:rPr>
                        <a:t>25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effectLst/>
                          <a:latin typeface="quote-cjk-patch"/>
                        </a:rPr>
                        <a:t>50000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659309"/>
                  </a:ext>
                </a:extLst>
              </a:tr>
            </a:tbl>
          </a:graphicData>
        </a:graphic>
      </p:graphicFrame>
      <p:sp>
        <p:nvSpPr>
          <p:cNvPr id="29" name="Rectangle 3">
            <a:extLst>
              <a:ext uri="{FF2B5EF4-FFF2-40B4-BE49-F238E27FC236}">
                <a16:creationId xmlns:a16="http://schemas.microsoft.com/office/drawing/2014/main" id="{B242DCCC-51F9-4ACC-84F2-B622D4596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8464" y="4471641"/>
            <a:ext cx="65122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1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Based on 10 clients in Year 1, growing through referrals</a:t>
            </a:r>
            <a:endParaRPr kumimoji="0" lang="en-US" altLang="en-US" sz="4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DE1ACE-CD15-4B12-98C3-4CD146BFE924}"/>
              </a:ext>
            </a:extLst>
          </p:cNvPr>
          <p:cNvSpPr/>
          <p:nvPr/>
        </p:nvSpPr>
        <p:spPr>
          <a:xfrm>
            <a:off x="2302024" y="6884333"/>
            <a:ext cx="9144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solidFill>
                  <a:srgbClr val="0F1115"/>
                </a:solidFill>
                <a:latin typeface="quote-cjk-patch"/>
              </a:rPr>
              <a:t>Low overhead.</a:t>
            </a:r>
            <a:r>
              <a:rPr lang="en-US" sz="3200" dirty="0">
                <a:solidFill>
                  <a:srgbClr val="0F1115"/>
                </a:solidFill>
                <a:latin typeface="quote-cjk-patch"/>
              </a:rPr>
              <a:t> University infrastructure keeps costs down.</a:t>
            </a:r>
            <a:br>
              <a:rPr lang="en-US" sz="3200" dirty="0"/>
            </a:br>
            <a:r>
              <a:rPr lang="en-US" sz="3200" b="1" dirty="0">
                <a:solidFill>
                  <a:srgbClr val="0F1115"/>
                </a:solidFill>
                <a:latin typeface="quote-cjk-patch"/>
              </a:rPr>
              <a:t>High value.</a:t>
            </a:r>
            <a:r>
              <a:rPr lang="en-US" sz="3200" dirty="0">
                <a:solidFill>
                  <a:srgbClr val="0F1115"/>
                </a:solidFill>
                <a:latin typeface="quote-cjk-patch"/>
              </a:rPr>
              <a:t> Clients pay less. We still win.</a:t>
            </a:r>
            <a:endParaRPr lang="en-US" sz="32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C3E9B9-E718-41E4-BA75-2780B2433CD4}"/>
              </a:ext>
            </a:extLst>
          </p:cNvPr>
          <p:cNvSpPr/>
          <p:nvPr/>
        </p:nvSpPr>
        <p:spPr>
          <a:xfrm>
            <a:off x="9930508" y="7857907"/>
            <a:ext cx="69048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i="1" dirty="0">
                <a:solidFill>
                  <a:srgbClr val="0F1115"/>
                </a:solidFill>
                <a:latin typeface="quote-cjk-patch"/>
              </a:rPr>
              <a:t>Affordable for them. Sustainable for us.</a:t>
            </a:r>
            <a:endParaRPr lang="en-US" sz="32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19442" y="-741566"/>
            <a:ext cx="5746231" cy="5746231"/>
          </a:xfrm>
          <a:custGeom>
            <a:avLst/>
            <a:gdLst/>
            <a:ahLst/>
            <a:cxnLst/>
            <a:rect l="l" t="t" r="r" b="b"/>
            <a:pathLst>
              <a:path w="5746231" h="5746231">
                <a:moveTo>
                  <a:pt x="0" y="0"/>
                </a:moveTo>
                <a:lnTo>
                  <a:pt x="5746231" y="0"/>
                </a:lnTo>
                <a:lnTo>
                  <a:pt x="5746231" y="5746231"/>
                </a:lnTo>
                <a:lnTo>
                  <a:pt x="0" y="5746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019445">
            <a:off x="12619528" y="4589514"/>
            <a:ext cx="11701170" cy="5675068"/>
          </a:xfrm>
          <a:custGeom>
            <a:avLst/>
            <a:gdLst/>
            <a:ahLst/>
            <a:cxnLst/>
            <a:rect l="l" t="t" r="r" b="b"/>
            <a:pathLst>
              <a:path w="11701170" h="5675068">
                <a:moveTo>
                  <a:pt x="0" y="0"/>
                </a:moveTo>
                <a:lnTo>
                  <a:pt x="11701170" y="0"/>
                </a:lnTo>
                <a:lnTo>
                  <a:pt x="11701170" y="5675068"/>
                </a:lnTo>
                <a:lnTo>
                  <a:pt x="0" y="5675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2090443" y="3066903"/>
            <a:ext cx="7220097" cy="7220097"/>
          </a:xfrm>
          <a:custGeom>
            <a:avLst/>
            <a:gdLst/>
            <a:ahLst/>
            <a:cxnLst/>
            <a:rect l="l" t="t" r="r" b="b"/>
            <a:pathLst>
              <a:path w="7220097" h="7220097">
                <a:moveTo>
                  <a:pt x="0" y="0"/>
                </a:moveTo>
                <a:lnTo>
                  <a:pt x="7220096" y="0"/>
                </a:lnTo>
                <a:lnTo>
                  <a:pt x="7220096" y="7220097"/>
                </a:lnTo>
                <a:lnTo>
                  <a:pt x="0" y="722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260232" y="-741566"/>
            <a:ext cx="3869422" cy="4851940"/>
          </a:xfrm>
          <a:custGeom>
            <a:avLst/>
            <a:gdLst/>
            <a:ahLst/>
            <a:cxnLst/>
            <a:rect l="l" t="t" r="r" b="b"/>
            <a:pathLst>
              <a:path w="3869422" h="4851940">
                <a:moveTo>
                  <a:pt x="3869422" y="0"/>
                </a:moveTo>
                <a:lnTo>
                  <a:pt x="0" y="0"/>
                </a:lnTo>
                <a:lnTo>
                  <a:pt x="0" y="4851940"/>
                </a:lnTo>
                <a:lnTo>
                  <a:pt x="3869422" y="4851940"/>
                </a:lnTo>
                <a:lnTo>
                  <a:pt x="38694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-1966554" y="2832771"/>
            <a:ext cx="7403666" cy="9283594"/>
          </a:xfrm>
          <a:custGeom>
            <a:avLst/>
            <a:gdLst/>
            <a:ahLst/>
            <a:cxnLst/>
            <a:rect l="l" t="t" r="r" b="b"/>
            <a:pathLst>
              <a:path w="7403666" h="9283594">
                <a:moveTo>
                  <a:pt x="7403666" y="0"/>
                </a:moveTo>
                <a:lnTo>
                  <a:pt x="0" y="0"/>
                </a:lnTo>
                <a:lnTo>
                  <a:pt x="0" y="9283594"/>
                </a:lnTo>
                <a:lnTo>
                  <a:pt x="7403666" y="9283594"/>
                </a:lnTo>
                <a:lnTo>
                  <a:pt x="74036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326157" y="9258300"/>
            <a:ext cx="18471427" cy="4710951"/>
          </a:xfrm>
          <a:custGeom>
            <a:avLst/>
            <a:gdLst/>
            <a:ahLst/>
            <a:cxnLst/>
            <a:rect l="l" t="t" r="r" b="b"/>
            <a:pathLst>
              <a:path w="18471427" h="4710951">
                <a:moveTo>
                  <a:pt x="0" y="0"/>
                </a:moveTo>
                <a:lnTo>
                  <a:pt x="18471427" y="0"/>
                </a:lnTo>
                <a:lnTo>
                  <a:pt x="18471427" y="4710951"/>
                </a:lnTo>
                <a:lnTo>
                  <a:pt x="0" y="4710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583" t="-447080" r="-20695" b="-10791"/>
            </a:stretch>
          </a:blipFill>
        </p:spPr>
      </p:sp>
      <p:sp>
        <p:nvSpPr>
          <p:cNvPr id="8" name="Freeform 8"/>
          <p:cNvSpPr/>
          <p:nvPr/>
        </p:nvSpPr>
        <p:spPr>
          <a:xfrm rot="-2203497">
            <a:off x="10845946" y="-1462983"/>
            <a:ext cx="12949900" cy="6280702"/>
          </a:xfrm>
          <a:custGeom>
            <a:avLst/>
            <a:gdLst/>
            <a:ahLst/>
            <a:cxnLst/>
            <a:rect l="l" t="t" r="r" b="b"/>
            <a:pathLst>
              <a:path w="12949900" h="6280702">
                <a:moveTo>
                  <a:pt x="0" y="0"/>
                </a:moveTo>
                <a:lnTo>
                  <a:pt x="12949900" y="0"/>
                </a:lnTo>
                <a:lnTo>
                  <a:pt x="12949900" y="6280702"/>
                </a:lnTo>
                <a:lnTo>
                  <a:pt x="0" y="62807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019445">
            <a:off x="15009518" y="7682320"/>
            <a:ext cx="5056399" cy="2452353"/>
          </a:xfrm>
          <a:custGeom>
            <a:avLst/>
            <a:gdLst/>
            <a:ahLst/>
            <a:cxnLst/>
            <a:rect l="l" t="t" r="r" b="b"/>
            <a:pathLst>
              <a:path w="5056399" h="2452353">
                <a:moveTo>
                  <a:pt x="0" y="0"/>
                </a:moveTo>
                <a:lnTo>
                  <a:pt x="5056398" y="0"/>
                </a:lnTo>
                <a:lnTo>
                  <a:pt x="5056398" y="2452353"/>
                </a:lnTo>
                <a:lnTo>
                  <a:pt x="0" y="245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29653" y="5589395"/>
            <a:ext cx="307459" cy="307459"/>
          </a:xfrm>
          <a:custGeom>
            <a:avLst/>
            <a:gdLst/>
            <a:ahLst/>
            <a:cxnLst/>
            <a:rect l="l" t="t" r="r" b="b"/>
            <a:pathLst>
              <a:path w="307459" h="307459">
                <a:moveTo>
                  <a:pt x="0" y="0"/>
                </a:moveTo>
                <a:lnTo>
                  <a:pt x="307459" y="0"/>
                </a:lnTo>
                <a:lnTo>
                  <a:pt x="307459" y="307458"/>
                </a:lnTo>
                <a:lnTo>
                  <a:pt x="0" y="3074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65854" flipH="1">
            <a:off x="-840952" y="6954408"/>
            <a:ext cx="2944652" cy="3057323"/>
          </a:xfrm>
          <a:custGeom>
            <a:avLst/>
            <a:gdLst/>
            <a:ahLst/>
            <a:cxnLst/>
            <a:rect l="l" t="t" r="r" b="b"/>
            <a:pathLst>
              <a:path w="4444581" h="4647928">
                <a:moveTo>
                  <a:pt x="4444581" y="0"/>
                </a:moveTo>
                <a:lnTo>
                  <a:pt x="0" y="0"/>
                </a:lnTo>
                <a:lnTo>
                  <a:pt x="0" y="4647928"/>
                </a:lnTo>
                <a:lnTo>
                  <a:pt x="4444581" y="4647928"/>
                </a:lnTo>
                <a:lnTo>
                  <a:pt x="444458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02547">
            <a:off x="16961549" y="4114006"/>
            <a:ext cx="1608275" cy="1681856"/>
          </a:xfrm>
          <a:custGeom>
            <a:avLst/>
            <a:gdLst/>
            <a:ahLst/>
            <a:cxnLst/>
            <a:rect l="l" t="t" r="r" b="b"/>
            <a:pathLst>
              <a:path w="1608275" h="1681856">
                <a:moveTo>
                  <a:pt x="0" y="0"/>
                </a:moveTo>
                <a:lnTo>
                  <a:pt x="1608275" y="0"/>
                </a:lnTo>
                <a:lnTo>
                  <a:pt x="1608275" y="1681856"/>
                </a:lnTo>
                <a:lnTo>
                  <a:pt x="0" y="16818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9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69698" y="5841754"/>
            <a:ext cx="9991977" cy="9842098"/>
          </a:xfrm>
          <a:custGeom>
            <a:avLst/>
            <a:gdLst/>
            <a:ahLst/>
            <a:cxnLst/>
            <a:rect l="l" t="t" r="r" b="b"/>
            <a:pathLst>
              <a:path w="9991977" h="9842098">
                <a:moveTo>
                  <a:pt x="0" y="0"/>
                </a:moveTo>
                <a:lnTo>
                  <a:pt x="9991977" y="0"/>
                </a:lnTo>
                <a:lnTo>
                  <a:pt x="9991977" y="9842098"/>
                </a:lnTo>
                <a:lnTo>
                  <a:pt x="0" y="98420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39943" y="9081342"/>
            <a:ext cx="2739274" cy="1039568"/>
          </a:xfrm>
          <a:custGeom>
            <a:avLst/>
            <a:gdLst/>
            <a:ahLst/>
            <a:cxnLst/>
            <a:rect l="l" t="t" r="r" b="b"/>
            <a:pathLst>
              <a:path w="2739274" h="1039568">
                <a:moveTo>
                  <a:pt x="0" y="0"/>
                </a:moveTo>
                <a:lnTo>
                  <a:pt x="2739274" y="0"/>
                </a:lnTo>
                <a:lnTo>
                  <a:pt x="2739274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62910" r="-6142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37677" y="9258300"/>
            <a:ext cx="4375851" cy="848163"/>
          </a:xfrm>
          <a:custGeom>
            <a:avLst/>
            <a:gdLst/>
            <a:ahLst/>
            <a:cxnLst/>
            <a:rect l="l" t="t" r="r" b="b"/>
            <a:pathLst>
              <a:path w="4375851" h="848163">
                <a:moveTo>
                  <a:pt x="0" y="0"/>
                </a:moveTo>
                <a:lnTo>
                  <a:pt x="4375850" y="0"/>
                </a:lnTo>
                <a:lnTo>
                  <a:pt x="4375850" y="848163"/>
                </a:lnTo>
                <a:lnTo>
                  <a:pt x="0" y="84816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8590" r="-598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734045" y="9109917"/>
            <a:ext cx="861179" cy="1039568"/>
          </a:xfrm>
          <a:custGeom>
            <a:avLst/>
            <a:gdLst/>
            <a:ahLst/>
            <a:cxnLst/>
            <a:rect l="l" t="t" r="r" b="b"/>
            <a:pathLst>
              <a:path w="861179" h="1039568">
                <a:moveTo>
                  <a:pt x="0" y="0"/>
                </a:moveTo>
                <a:lnTo>
                  <a:pt x="861179" y="0"/>
                </a:lnTo>
                <a:lnTo>
                  <a:pt x="861179" y="1039568"/>
                </a:lnTo>
                <a:lnTo>
                  <a:pt x="0" y="103956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r="-4334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5497905" y="8846987"/>
            <a:ext cx="2790095" cy="1273923"/>
            <a:chOff x="0" y="0"/>
            <a:chExt cx="3720127" cy="1698564"/>
          </a:xfrm>
        </p:grpSpPr>
        <p:sp>
          <p:nvSpPr>
            <p:cNvPr id="18" name="Freeform 18"/>
            <p:cNvSpPr/>
            <p:nvPr/>
          </p:nvSpPr>
          <p:spPr>
            <a:xfrm>
              <a:off x="585344" y="0"/>
              <a:ext cx="2549440" cy="1698564"/>
            </a:xfrm>
            <a:custGeom>
              <a:avLst/>
              <a:gdLst/>
              <a:ahLst/>
              <a:cxnLst/>
              <a:rect l="l" t="t" r="r" b="b"/>
              <a:pathLst>
                <a:path w="2549440" h="1698564">
                  <a:moveTo>
                    <a:pt x="0" y="0"/>
                  </a:moveTo>
                  <a:lnTo>
                    <a:pt x="2549439" y="0"/>
                  </a:lnTo>
                  <a:lnTo>
                    <a:pt x="2549439" y="1698564"/>
                  </a:lnTo>
                  <a:lnTo>
                    <a:pt x="0" y="1698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1043636"/>
              <a:ext cx="3720127" cy="521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en-US" sz="242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@bic.muet 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-543719" y="91085"/>
            <a:ext cx="7456190" cy="1104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62"/>
              </a:lnSpc>
              <a:spcBef>
                <a:spcPct val="0"/>
              </a:spcBef>
            </a:pPr>
            <a:r>
              <a:rPr lang="en-US" sz="5400" dirty="0">
                <a:solidFill>
                  <a:srgbClr val="004BA5"/>
                </a:solidFill>
                <a:latin typeface="Fredoka"/>
                <a:ea typeface="Fredoka"/>
                <a:cs typeface="Fredoka"/>
                <a:sym typeface="Fredoka"/>
              </a:rPr>
              <a:t>Contact Details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3972" y="9692428"/>
            <a:ext cx="394506" cy="49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1"/>
              </a:lnSpc>
            </a:pPr>
            <a:r>
              <a:rPr lang="en-US" sz="286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804812-8BB9-44C9-A269-68A734D384DB}"/>
              </a:ext>
            </a:extLst>
          </p:cNvPr>
          <p:cNvSpPr/>
          <p:nvPr/>
        </p:nvSpPr>
        <p:spPr>
          <a:xfrm>
            <a:off x="332923" y="1523999"/>
            <a:ext cx="3493225" cy="3124200"/>
          </a:xfrm>
          <a:prstGeom prst="ellipse">
            <a:avLst/>
          </a:prstGeom>
          <a:blipFill dpi="0" rotWithShape="1"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9E817C-FC63-488C-8F50-D7775C880D6E}"/>
              </a:ext>
            </a:extLst>
          </p:cNvPr>
          <p:cNvSpPr/>
          <p:nvPr/>
        </p:nvSpPr>
        <p:spPr>
          <a:xfrm>
            <a:off x="3970997" y="1440508"/>
            <a:ext cx="887775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Let's build something sustainable together.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ACFCDA-3F05-461F-83D1-D3E62DC3ADDD}"/>
              </a:ext>
            </a:extLst>
          </p:cNvPr>
          <p:cNvSpPr/>
          <p:nvPr/>
        </p:nvSpPr>
        <p:spPr>
          <a:xfrm>
            <a:off x="4956880" y="6567302"/>
            <a:ext cx="9144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0F1115"/>
                </a:solidFill>
                <a:latin typeface="quote-cjk-patch"/>
              </a:rPr>
              <a:t>📍 Address</a:t>
            </a:r>
          </a:p>
          <a:p>
            <a:r>
              <a:rPr lang="en-US" sz="2800" b="1" dirty="0">
                <a:solidFill>
                  <a:srgbClr val="0F1115"/>
                </a:solidFill>
                <a:latin typeface="quote-cjk-patch"/>
              </a:rPr>
              <a:t>Chemical Engineering Department</a:t>
            </a:r>
            <a:br>
              <a:rPr lang="en-US" sz="2800" dirty="0">
                <a:solidFill>
                  <a:srgbClr val="0F1115"/>
                </a:solidFill>
                <a:latin typeface="quote-cjk-patch"/>
              </a:rPr>
            </a:br>
            <a:r>
              <a:rPr lang="en-US" sz="2800" dirty="0">
                <a:solidFill>
                  <a:srgbClr val="0F1115"/>
                </a:solidFill>
                <a:latin typeface="quote-cjk-patch"/>
              </a:rPr>
              <a:t>Mehran University of Engineering &amp; Technology (MUET)</a:t>
            </a:r>
            <a:br>
              <a:rPr lang="en-US" sz="2800" dirty="0">
                <a:solidFill>
                  <a:srgbClr val="0F1115"/>
                </a:solidFill>
                <a:latin typeface="quote-cjk-patch"/>
              </a:rPr>
            </a:br>
            <a:r>
              <a:rPr lang="en-US" sz="2800" dirty="0">
                <a:solidFill>
                  <a:srgbClr val="0F1115"/>
                </a:solidFill>
                <a:latin typeface="quote-cjk-patch"/>
              </a:rPr>
              <a:t>Jamshoro, Sindh, Pakistan</a:t>
            </a:r>
          </a:p>
          <a:p>
            <a:br>
              <a:rPr lang="en-US" sz="2800" dirty="0"/>
            </a:br>
            <a:endParaRPr lang="en-US" sz="28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1A2C13-472F-45B7-867B-5E16AE753270}"/>
              </a:ext>
            </a:extLst>
          </p:cNvPr>
          <p:cNvSpPr/>
          <p:nvPr/>
        </p:nvSpPr>
        <p:spPr>
          <a:xfrm>
            <a:off x="4991659" y="3833723"/>
            <a:ext cx="9144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solidFill>
                  <a:srgbClr val="0F1115"/>
                </a:solidFill>
                <a:latin typeface="quote-cjk-patch"/>
              </a:rPr>
              <a:t>📧 Email</a:t>
            </a:r>
          </a:p>
          <a:p>
            <a:r>
              <a:rPr lang="en-US" sz="3200" b="1" dirty="0">
                <a:solidFill>
                  <a:srgbClr val="0F1115"/>
                </a:solidFill>
                <a:latin typeface="quote-cjk-patch"/>
              </a:rPr>
              <a:t>muhsinalisolangi12@gmail.com</a:t>
            </a:r>
            <a:endParaRPr lang="en-US" sz="3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08DDBF-7913-4695-B33A-7C827A449B51}"/>
              </a:ext>
            </a:extLst>
          </p:cNvPr>
          <p:cNvSpPr/>
          <p:nvPr/>
        </p:nvSpPr>
        <p:spPr>
          <a:xfrm>
            <a:off x="4925231" y="5262789"/>
            <a:ext cx="9144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0F1115"/>
                </a:solidFill>
                <a:latin typeface="quote-cjk-patch"/>
              </a:rPr>
              <a:t>📞 Phone</a:t>
            </a:r>
          </a:p>
          <a:p>
            <a:r>
              <a:rPr lang="en-US" sz="2800" b="1" dirty="0">
                <a:solidFill>
                  <a:srgbClr val="0F1115"/>
                </a:solidFill>
                <a:latin typeface="quote-cjk-patch"/>
              </a:rPr>
              <a:t>+92 315 3119212</a:t>
            </a:r>
            <a:endParaRPr lang="en-US" sz="2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7013D3-3C9E-452F-97A9-456197109104}"/>
              </a:ext>
            </a:extLst>
          </p:cNvPr>
          <p:cNvSpPr txBox="1"/>
          <p:nvPr/>
        </p:nvSpPr>
        <p:spPr>
          <a:xfrm>
            <a:off x="4953000" y="2832771"/>
            <a:ext cx="601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Muhsin 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813</Words>
  <Application>Microsoft Office PowerPoint</Application>
  <PresentationFormat>Custom</PresentationFormat>
  <Paragraphs>177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Fredoka</vt:lpstr>
      <vt:lpstr>quote-cjk-patch</vt:lpstr>
      <vt:lpstr>Canva Sans Bold</vt:lpstr>
      <vt:lpstr>Calibri</vt:lpstr>
      <vt:lpstr>Poppins</vt:lpstr>
      <vt:lpstr>Arial</vt:lpstr>
      <vt:lpstr>Agrandir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Cohort 2 of bic template slide</dc:title>
  <dc:creator>Muhsin Ali Solangi</dc:creator>
  <cp:lastModifiedBy>Toshiba</cp:lastModifiedBy>
  <cp:revision>35</cp:revision>
  <dcterms:created xsi:type="dcterms:W3CDTF">2006-08-16T00:00:00Z</dcterms:created>
  <dcterms:modified xsi:type="dcterms:W3CDTF">2026-03-05T13:34:11Z</dcterms:modified>
  <dc:identifier>DAHBvX6rhjE</dc:identifier>
</cp:coreProperties>
</file>